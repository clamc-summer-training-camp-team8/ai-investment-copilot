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承认现有产品和论文前沿的价值：它们已经显著提升信息获取、内容生成和局部智能能力。随后指出共同缺口——新信息进入研究流程后，仍缺少对原有判断、关键假设、指标预期和变更责任的持续管理。我们的差异化不是多一个 AI 功能，而是以投资逻辑为核心业务对象，把观点、假设、指标、证据、状态和版本连接成研究闭环。</a:t>
            </a:r>
          </a:p>
          <a:p/>
          <a:p>
            <a:r>
              <a:t>[Sources]</a:t>
            </a:r>
          </a:p>
          <a:p>
            <a:r>
              <a:t>- 产品/权益投研产品调研与设计.docx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开场只讲一句话：这不是另一个资讯摘要工具，而是帮助主动权益研究团队持续管理“为什么看好、什么会改变判断、何时需要复核”的研究协作平台。</a:t>
            </a:r>
          </a:p>
          <a:p/>
          <a:p>
            <a:r>
              <a:t>[Sources]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- 产品/AI Investment Copilot 产品整体架构图（MVP）V1.2.pdf</a:t>
            </a:r>
          </a:p>
          <a:p>
            <a:r>
              <a:t>- https://ai-investment-copilot-demo.xuj888349.chatgpt.site/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这一页从业务断点切入。重点不是展示更多功能，而是说明平台介入的是信息进入研究流程之后的判断管理。</a:t>
            </a:r>
          </a:p>
          <a:p/>
          <a:p>
            <a:r>
              <a:t>[Sources]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- 产品/AI Investment Copilot 产品整体架构图（MVP）V1.2.pdf</a:t>
            </a:r>
          </a:p>
          <a:p>
            <a:r>
              <a:t>- https://ai-investment-copilot-demo.xuj888349.chatgpt.site/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这一页明确回答范围问题：当前不是因子搜索和组合回测平台。未来可以接入，但必须先把逻辑对象、指标口径和数据版本设计好。</a:t>
            </a:r>
          </a:p>
          <a:p/>
          <a:p>
            <a:r>
              <a:t>[Sources]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- 产品/AI Investment Copilot 产品整体架构图（MVP）V1.2.pdf</a:t>
            </a:r>
          </a:p>
          <a:p>
            <a:r>
              <a:t>- https://ai-investment-copilot-demo.xuj888349.chatgpt.site/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核心对象决定数据模型、页面信息架构和后续接口。因子候选也不是另起炉灶，而是逻辑卡中“关键假设—指标”关系的可计算延伸。</a:t>
            </a:r>
          </a:p>
          <a:p/>
          <a:p>
            <a:r>
              <a:t>[Sources]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- 产品/AI Investment Copilot 产品整体架构图（MVP）V1.2.pdf</a:t>
            </a:r>
          </a:p>
          <a:p>
            <a:r>
              <a:t>- https://ai-investment-copilot-demo.xuj888349.chatgpt.site/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用一个业务例子讲闭环。强调 AI 给出候选影响，程序完成规则与指标计算，最终状态变化由研究员确认。</a:t>
            </a:r>
          </a:p>
          <a:p/>
          <a:p>
            <a:r>
              <a:t>[Sources]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- 产品/AI Investment Copilot 产品整体架构图（MVP）V1.2.pdf</a:t>
            </a:r>
          </a:p>
          <a:p>
            <a:r>
              <a:t>- https://ai-investment-copilot-demo.xuj888349.chatgpt.site/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这四个页面不是四个孤立功能，而是同一业务对象在不同任务阶段的视图：创建、跟踪、变化识别和复核沉淀。</a:t>
            </a:r>
          </a:p>
          <a:p/>
          <a:p>
            <a:r>
              <a:t>[Sources]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- 产品/AI Investment Copilot 产品整体架构图（MVP）V1.2.pdf</a:t>
            </a:r>
          </a:p>
          <a:p>
            <a:r>
              <a:t>- https://ai-investment-copilot-demo.xuj888349.chatgpt.site/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这页适合技术评审：明确大模型、确定性程序和人工职责，降低“模型直接替人决策”的风险与误解。</a:t>
            </a:r>
          </a:p>
          <a:p/>
          <a:p>
            <a:r>
              <a:t>[Sources]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- 产品/AI Investment Copilot 产品整体架构图（MVP）V1.2.pdf</a:t>
            </a:r>
          </a:p>
          <a:p>
            <a:r>
              <a:t>- https://ai-investment-copilot-demo.xuj888349.chatgpt.site/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架构从用户层到基础设施层完整，但 MVP 的价值核心是绿色区域的投资逻辑闭环。右侧虚线能力是未来集成，不应被理解为当前全部自建。</a:t>
            </a:r>
          </a:p>
          <a:p/>
          <a:p>
            <a:r>
              <a:t>[Sources]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- 产品/AI Investment Copilot 产品整体架构图（MVP）V1.2.pdf</a:t>
            </a:r>
          </a:p>
          <a:p>
            <a:r>
              <a:t>- https://ai-investment-copilot-demo.xuj888349.chatgpt.site/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收尾强调验证顺序：先证明闭环能让研究判断更快、更可追溯、更易协同；再扩展数据规模和专业量化能力。</a:t>
            </a:r>
          </a:p>
          <a:p/>
          <a:p>
            <a:r>
              <a:t>[Sources]</a:t>
            </a:r>
          </a:p>
          <a:p>
            <a:r>
              <a:t>- 产品/AI Investment Copilot 产品需求文档（PRD）V1.2.docx</a:t>
            </a:r>
          </a:p>
          <a:p>
            <a:r>
              <a:t>- 产品/AI Investment Copilot 产品设计方案讲演稿 V1.0.docx</a:t>
            </a:r>
          </a:p>
          <a:p>
            <a:r>
              <a:t>- 产品/AI Investment Copilot 产品整体架构图（MVP）V1.2.pdf</a:t>
            </a:r>
          </a:p>
          <a:p>
            <a:r>
              <a:t>- https://ai-investment-copilot-demo.xuj888349.chatgpt.site/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6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1725930" y="802640"/>
            <a:ext cx="8257540" cy="108331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buNone/>
            </a:pP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现有用户业务流程工作流：</a:t>
            </a:r>
            <a:endParaRPr sz="16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defTabSz="266700">
              <a:buNone/>
            </a:pP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市场机会发现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→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资料收集与信息整理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→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行业与公司研究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→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形成投资观点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→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建立盈利预测模型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→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量化验证与因子分析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→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持续跟踪公司变化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→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调整投资判断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→ </a:t>
            </a:r>
            <a:r>
              <a:rPr sz="1600">
                <a:latin typeface="Calibri" panose="020F0502020204030204"/>
                <a:ea typeface="Calibri" panose="020F0502020204030204"/>
                <a:cs typeface="Calibri" panose="020F0502020204030204"/>
              </a:rPr>
              <a:t>投资复盘</a:t>
            </a:r>
            <a:endParaRPr sz="16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9" name="表格 4"/>
          <p:cNvGraphicFramePr/>
          <p:nvPr/>
        </p:nvGraphicFramePr>
        <p:xfrm>
          <a:off x="1725930" y="2169795"/>
          <a:ext cx="8660130" cy="3159760"/>
        </p:xfrm>
        <a:graphic>
          <a:graphicData uri="http://schemas.openxmlformats.org/drawingml/2006/table">
            <a:tbl>
              <a:tblPr/>
              <a:tblGrid>
                <a:gridCol w="2886710"/>
                <a:gridCol w="2886710"/>
                <a:gridCol w="2886710"/>
              </a:tblGrid>
              <a:tr h="39497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用户流程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现有问题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产品能力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市场机会发现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信息过载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AI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机会发现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资料整理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分散，耗时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投研知识库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形成观点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逻辑隐式呈现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投资逻辑结构化说明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模型验证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主观与量化割裂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逻辑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-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因子映射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持续跟踪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实时信息与观点的影响关系不明确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投资逻辑雷达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观点调整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无过程追溯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决策记录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复盘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经验流失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投资复盘库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>
            <a:spLocks noGrp="1"/>
          </p:cNvSpPr>
          <p:nvPr/>
        </p:nvSpPr>
        <p:spPr>
          <a:xfrm>
            <a:off x="466090" y="302260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研究员工作</a:t>
            </a:r>
            <a:r>
              <a:t>流程与</a:t>
            </a:r>
            <a:r>
              <a:t>AI</a:t>
            </a:r>
            <a:r>
              <a:t>赋能</a:t>
            </a:r>
            <a:r>
              <a:t>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628650" y="400050"/>
            <a:ext cx="109347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buNone/>
              <a:defRPr sz="27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现有产品解决了“获取与生成”，仍未管理“判断如何持续演化”</a:t>
            </a:r>
            <a:endParaRPr sz="27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1049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5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差异不在于再增加一个 AI 功能，而在于把产品的核心对象从“信息与任务”升级为“可持续验证的投资逻辑”。</a:t>
            </a:r>
            <a:endParaRPr sz="15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5619750" y="3286125"/>
            <a:ext cx="495300" cy="400050"/>
          </a:xfrm>
          <a:prstGeom prst="rightArrow">
            <a:avLst/>
          </a:prstGeom>
          <a:solidFill>
            <a:srgbClr val="D5DEE9"/>
          </a:solidFill>
          <a:ln w="0">
            <a:solidFill>
              <a:srgbClr val="D5DEE9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8477250" y="3286125"/>
            <a:ext cx="495300" cy="400050"/>
          </a:xfrm>
          <a:prstGeom prst="rightArrow">
            <a:avLst/>
          </a:prstGeom>
          <a:solidFill>
            <a:srgbClr val="A9DCD4"/>
          </a:solidFill>
          <a:ln w="0">
            <a:solidFill>
              <a:srgbClr val="A9DCD4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28650" y="1790700"/>
            <a:ext cx="4953000" cy="1695450"/>
          </a:xfrm>
          <a:prstGeom prst="roundRect">
            <a:avLst>
              <a:gd name="adj" fmla="val 6742"/>
            </a:avLst>
          </a:prstGeom>
          <a:solidFill>
            <a:srgbClr val="F4F7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1971675"/>
            <a:ext cx="1200150" cy="285750"/>
          </a:xfrm>
          <a:prstGeom prst="roundRect">
            <a:avLst>
              <a:gd name="adj" fmla="val 50000"/>
            </a:avLst>
          </a:prstGeom>
          <a:solidFill>
            <a:srgbClr val="2468D7"/>
          </a:solidFill>
          <a:ln w="0">
            <a:solidFill>
              <a:srgbClr val="2468D7"/>
            </a:solidFill>
            <a:prstDash val="solid"/>
          </a:ln>
        </p:spPr>
        <p:txBody>
          <a:bodyPr wrap="square" lIns="57150" tIns="19050" rIns="57150" bIns="19050" anchor="ctr">
            <a:normAutofit fontScale="86936"/>
          </a:bodyPr>
          <a:lstStyle/>
          <a:p>
            <a:pPr algn="ctr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现有产品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193357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更擅长降低信息处理成本</a:t>
            </a:r>
            <a:endParaRPr sz="150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6440" y="2400300"/>
            <a:ext cx="468503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资讯与数据聚合　｜　搜索与问答</a:t>
            </a:r>
            <a:r>
              <a:rPr lang="en-US"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</a:t>
            </a:r>
            <a:r>
              <a:rPr lang="en-US" altLang="zh-CN"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　研报 / 纪要摘要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知识库检索　　　｜　内容生成　　</a:t>
            </a:r>
            <a:r>
              <a:rPr lang="en-US"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　单次任务辅助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8650" y="3676650"/>
            <a:ext cx="4953000" cy="1695450"/>
          </a:xfrm>
          <a:prstGeom prst="roundRect">
            <a:avLst>
              <a:gd name="adj" fmla="val 6742"/>
            </a:avLst>
          </a:prstGeom>
          <a:solidFill>
            <a:srgbClr val="F4F7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838200" y="385762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12A38F"/>
          </a:solidFill>
          <a:ln w="0">
            <a:solidFill>
              <a:srgbClr val="12A38F"/>
            </a:solidFill>
            <a:prstDash val="solid"/>
          </a:ln>
        </p:spPr>
        <p:txBody>
          <a:bodyPr wrap="square" lIns="57150" tIns="19050" rIns="57150" bIns="19050" anchor="ctr">
            <a:normAutofit fontScale="86936"/>
          </a:bodyPr>
          <a:lstStyle/>
          <a:p>
            <a:pPr algn="ctr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论文与技术前沿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381250" y="38195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持续增强局部智能能力</a:t>
            </a:r>
            <a:endParaRPr sz="150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6440" y="4343400"/>
            <a:ext cx="48037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领域大模型　｜　RAG 与知识图谱</a:t>
            </a:r>
            <a:r>
              <a:rPr lang="en-US"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　多 Agent 协作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事件抽取　　｜　观点识别　　　</a:t>
            </a:r>
            <a:r>
              <a:rPr lang="en-US"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　因子候选与统计验证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0" y="1981200"/>
            <a:ext cx="2343150" cy="3200400"/>
          </a:xfrm>
          <a:prstGeom prst="roundRect">
            <a:avLst>
              <a:gd name="adj" fmla="val 4878"/>
            </a:avLst>
          </a:prstGeom>
          <a:solidFill>
            <a:srgbClr val="FFF7E2"/>
          </a:solidFill>
          <a:ln w="9525">
            <a:solidFill>
              <a:srgbClr val="E9C77E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96050" y="2190750"/>
            <a:ext cx="1543050" cy="285750"/>
          </a:xfrm>
          <a:prstGeom prst="roundRect">
            <a:avLst>
              <a:gd name="adj" fmla="val 50000"/>
            </a:avLst>
          </a:prstGeom>
          <a:solidFill>
            <a:srgbClr val="CB8A12"/>
          </a:solidFill>
          <a:ln w="0">
            <a:solidFill>
              <a:srgbClr val="CB8A12"/>
            </a:solidFill>
            <a:prstDash val="solid"/>
          </a:ln>
        </p:spPr>
        <p:txBody>
          <a:bodyPr wrap="square" lIns="57150" tIns="19050" rIns="57150" bIns="19050" anchor="ctr">
            <a:normAutofit fontScale="86936"/>
          </a:bodyPr>
          <a:lstStyle/>
          <a:p>
            <a:pPr algn="ctr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共同缺口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43650" y="26479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 fontScale="95694"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信息进入研究之后</a:t>
            </a:r>
            <a:endParaRPr sz="142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81750" y="3048000"/>
            <a:ext cx="17716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 fontScale="96899"/>
          </a:bodyPr>
          <a:lstStyle/>
          <a:p>
            <a:pPr algn="ctr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影响了哪条判断？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ctr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支持还是削弱假设？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ctr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是否需要修改预期？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ctr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谁在何时做了改判？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953500" y="1790700"/>
            <a:ext cx="2609850" cy="3581400"/>
          </a:xfrm>
          <a:prstGeom prst="roundRect">
            <a:avLst>
              <a:gd name="adj" fmla="val 5839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9334500" y="2000250"/>
            <a:ext cx="1847850" cy="304800"/>
          </a:xfrm>
          <a:prstGeom prst="roundRect">
            <a:avLst>
              <a:gd name="adj" fmla="val 50000"/>
            </a:avLst>
          </a:prstGeom>
          <a:solidFill>
            <a:srgbClr val="12A38F"/>
          </a:solidFill>
          <a:ln w="0">
            <a:solidFill>
              <a:srgbClr val="12A38F"/>
            </a:solidFill>
            <a:prstDash val="solid"/>
          </a:ln>
        </p:spPr>
        <p:txBody>
          <a:bodyPr wrap="square" lIns="57150" tIns="19050" rIns="57150" bIns="19050" anchor="ctr">
            <a:normAutofit fontScale="94078"/>
          </a:bodyPr>
          <a:lstStyle/>
          <a:p>
            <a:pPr algn="ctr">
              <a:lnSpc>
                <a:spcPct val="110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我们的特别点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39250" y="2495550"/>
            <a:ext cx="2038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 fontScale="78628"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以投资逻辑为核心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管理判断的完整生命周期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277350" y="3333750"/>
            <a:ext cx="19621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 fontScale="69496"/>
          </a:bodyPr>
          <a:lstStyle/>
          <a:p>
            <a:pPr algn="l">
              <a:lnSpc>
                <a:spcPct val="104000"/>
              </a:lnSpc>
              <a:buNone/>
              <a:def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结构化表达</a:t>
            </a:r>
            <a:endParaRPr sz="1275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观点—假设—指标—证据</a:t>
            </a:r>
            <a:endParaRPr sz="1275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持续验证</a:t>
            </a:r>
            <a:endParaRPr sz="1275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新事件映射已有判断</a:t>
            </a:r>
            <a:endParaRPr sz="1275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人机协作</a:t>
            </a:r>
            <a:endParaRPr sz="1275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候选，研究员确认</a:t>
            </a:r>
            <a:endParaRPr sz="1275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可追溯沉淀</a:t>
            </a:r>
            <a:endParaRPr sz="1275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状态、版本、决策原因</a:t>
            </a:r>
            <a:endParaRPr sz="1275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190750" y="563880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不是更强的“投研问答工具”，而是围绕投资逻辑运行的研究协作平台。</a:t>
            </a:r>
            <a:endParaRPr sz="15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>
            <a:spLocks noGrp="1"/>
          </p:cNvSpPr>
          <p:nvPr/>
        </p:nvSpPr>
        <p:spPr>
          <a:xfrm>
            <a:off x="1333500" y="2057400"/>
            <a:ext cx="9525000" cy="1428750"/>
          </a:xfrm>
          <a:prstGeom prst="rect">
            <a:avLst/>
          </a:prstGeom>
        </p:spPr>
        <p:txBody>
          <a:bodyPr wrap="square" lIns="76200" tIns="47625" rIns="76200" bIns="47625" anchor="ctr">
            <a:normAutofit/>
          </a:bodyPr>
          <a:lstStyle/>
          <a:p>
            <a:pPr algn="ctr" defTabSz="266700">
              <a:lnSpc>
                <a:spcPct val="95000"/>
              </a:lnSpc>
              <a:buNone/>
              <a:defRPr sz="37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Investment Copilot</a:t>
            </a:r>
            <a:endParaRPr sz="37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266700">
              <a:lnSpc>
                <a:spcPct val="95000"/>
              </a:lnSpc>
              <a:buNone/>
              <a:defRPr sz="37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主动权益基本面研究智能协作平台</a:t>
            </a:r>
            <a:endParaRPr sz="37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286000" y="3714750"/>
            <a:ext cx="762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以结构化投资逻辑连接观点、证据、指标验证与研究复盘</a:t>
            </a:r>
            <a:endParaRPr sz="18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333875" y="4495800"/>
            <a:ext cx="3524250" cy="285750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0">
            <a:solidFill>
              <a:srgbClr val="0F9D8A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 DESIGN OVERVIEW · MVP V1.2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619500" y="500062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面向技术架构、数据分析与产品评审</a:t>
            </a:r>
            <a:endParaRPr sz="12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628650" y="400050"/>
            <a:ext cx="10934700" cy="6286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marL="0" indent="266700" algn="l" defTabSz="26670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None/>
              <a:def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研究员不缺信息，缺的是对“判断变化”的持续管理</a:t>
            </a:r>
            <a:endParaRPr sz="28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4"/>
          <p:cNvGraphicFramePr/>
          <p:nvPr/>
        </p:nvGraphicFramePr>
        <p:xfrm>
          <a:off x="838200" y="2190750"/>
          <a:ext cx="10515600" cy="3381375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35877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研究环节</a:t>
                      </a:r>
                      <a:endParaRPr sz="1100" b="1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当前断点</a:t>
                      </a:r>
                      <a:endParaRPr sz="1100" b="1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产品介入点</a:t>
                      </a:r>
                      <a:endParaRPr sz="1100" b="1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3233A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资料获取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信息越来越多、引用难回溯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聚合检索 + 原文定位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8F7F4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公司研究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观点写在文档里、难持续维护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结构化投资逻辑卡片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7F4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盈利预测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模型数字与核心假设脱节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指标预期与逻辑联动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7F4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事件跟踪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难判断影响了哪条假设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逻辑变化雷达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7F4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持续验证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依赖个人记忆与提醒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复核待办与状态管理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7F4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团队协同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口径、版本、责任人不清晰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人工确认 + 版本留痕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7F4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研究复盘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结果可见，决策依据难还原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证据链与决策日志</a:t>
                      </a:r>
                      <a:endParaRPr sz="11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95250" marR="7620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62000" y="12858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研究成果散落在研报、纪要、Excel 与个人经验中，新信息很难自动回答：它影响了哪条假设？是否改变原有结论？</a:t>
            </a:r>
            <a:endParaRPr sz="15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762000" y="1619250"/>
            <a:ext cx="4953000" cy="3714750"/>
          </a:xfrm>
          <a:prstGeom prst="roundRect">
            <a:avLst>
              <a:gd name="adj" fmla="val 4103"/>
            </a:avLst>
          </a:prstGeom>
          <a:solidFill>
            <a:srgbClr val="E8F7F4"/>
          </a:solidFill>
          <a:ln w="9525">
            <a:solidFill>
              <a:srgbClr val="A6DED4"/>
            </a:solidFill>
            <a:prstDash val="solid"/>
          </a:ln>
        </p:spPr>
        <p:txBody>
          <a:bodyPr wrap="square" lIns="304800" tIns="228600" rIns="266700" bIns="1905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9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 当前聚焦</a:t>
            </a:r>
            <a:endParaRPr sz="1650" b="1">
              <a:solidFill>
                <a:srgbClr val="0F9D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50"/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公司基本面与行业研究</a:t>
            </a:r>
            <a:endParaRPr sz="16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投资逻辑、假设、证据结构化</a:t>
            </a:r>
            <a:endParaRPr sz="16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指标预期与实际值持续验证</a:t>
            </a:r>
            <a:endParaRPr sz="16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事件影响分析与复核待办</a:t>
            </a:r>
            <a:endParaRPr sz="16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版本、责任人和复盘留痕</a:t>
            </a:r>
            <a:endParaRPr sz="16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6477000" y="1619250"/>
            <a:ext cx="4953000" cy="3714750"/>
          </a:xfrm>
          <a:prstGeom prst="roundRect">
            <a:avLst>
              <a:gd name="adj" fmla="val 4103"/>
            </a:avLst>
          </a:prstGeom>
          <a:solidFill>
            <a:srgbClr val="F5F8FC"/>
          </a:solidFill>
          <a:ln w="9525">
            <a:solidFill>
              <a:srgbClr val="D7E0EA"/>
            </a:solidFill>
            <a:prstDash val="solid"/>
          </a:ln>
        </p:spPr>
        <p:txBody>
          <a:bodyPr wrap="square" lIns="304800" tIns="228600" rIns="266700" bIns="1905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E66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后续专业能力衔接</a:t>
            </a:r>
            <a:endParaRPr sz="1500" b="1">
              <a:solidFill>
                <a:srgbClr val="1E66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00"/>
          </a:p>
          <a:p>
            <a:pPr algn="l">
              <a:lnSpc>
                <a:spcPct val="113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因子候选：从逻辑与指标中产生研究命题</a:t>
            </a:r>
            <a:endParaRPr sz="15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数据对齐：映射为可计算字段</a:t>
            </a:r>
            <a:endParaRPr sz="15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统计验证：调用专业因子与回测平台</a:t>
            </a:r>
            <a:endParaRPr sz="15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结果回写：显著性、稳定性与适用边界</a:t>
            </a:r>
            <a:endParaRPr sz="15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00"/>
          </a:p>
          <a:p>
            <a:pPr algn="l">
              <a:lnSpc>
                <a:spcPct val="113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原则：统一逻辑对象与接口，不在 MVP 内重复建设专业量化底座</a:t>
            </a:r>
            <a:endParaRPr sz="15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00050"/>
            <a:ext cx="10934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产品边界：先闭环基本面研究，再连接专业量化能力</a:t>
            </a:r>
            <a:endParaRPr sz="28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619250" y="5619750"/>
            <a:ext cx="895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“可无缝衔接”依赖统一的指标定义、时间口径、证券主数据与可追溯版本。</a:t>
            </a:r>
            <a:endParaRPr sz="13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733425" y="1714500"/>
            <a:ext cx="4095750" cy="3905250"/>
          </a:xfrm>
          <a:prstGeom prst="roundRect">
            <a:avLst>
              <a:gd name="adj" fmla="val 3721"/>
            </a:avLst>
          </a:prstGeom>
          <a:solidFill>
            <a:srgbClr val="13233A"/>
          </a:solidFill>
          <a:ln w="0">
            <a:solidFill>
              <a:srgbClr val="13233A"/>
            </a:solidFill>
            <a:prstDash val="solid"/>
          </a:ln>
        </p:spPr>
        <p:txBody>
          <a:bodyPr wrap="square" lIns="285750" tIns="266700" rIns="247650" bIns="228600" anchor="t">
            <a:normAutofit/>
          </a:bodyPr>
          <a:lstStyle/>
          <a:p>
            <a:pPr algn="l" defTabSz="266700">
              <a:lnSpc>
                <a:spcPct val="118000"/>
              </a:lnSpc>
              <a:spcAft>
                <a:spcPts val="600"/>
              </a:spcAft>
              <a:buNone/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一张逻辑卡，不是摘要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266700">
              <a:lnSpc>
                <a:spcPct val="125000"/>
              </a:lnSpc>
              <a:spcAft>
                <a:spcPts val="600"/>
              </a:spcAft>
              <a:buNone/>
            </a:pPr>
          </a:p>
          <a:p>
            <a:pPr algn="l" defTabSz="266700">
              <a:lnSpc>
                <a:spcPct val="118000"/>
              </a:lnSpc>
              <a:spcAft>
                <a:spcPts val="600"/>
              </a:spcAft>
              <a:buNone/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它持续回答：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266700">
              <a:lnSpc>
                <a:spcPct val="118000"/>
              </a:lnSpc>
              <a:spcAft>
                <a:spcPts val="600"/>
              </a:spcAft>
              <a:buNone/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为什么看好 / 看空？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266700">
              <a:lnSpc>
                <a:spcPct val="118000"/>
              </a:lnSpc>
              <a:spcAft>
                <a:spcPts val="600"/>
              </a:spcAft>
              <a:buNone/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哪些假设必须成立？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266700">
              <a:lnSpc>
                <a:spcPct val="118000"/>
              </a:lnSpc>
              <a:spcAft>
                <a:spcPts val="600"/>
              </a:spcAft>
              <a:buNone/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用什么指标验证？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266700">
              <a:lnSpc>
                <a:spcPct val="118000"/>
              </a:lnSpc>
              <a:spcAft>
                <a:spcPts val="600"/>
              </a:spcAft>
              <a:buNone/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新证据支持还是削弱？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266700">
              <a:lnSpc>
                <a:spcPct val="118000"/>
              </a:lnSpc>
              <a:spcAft>
                <a:spcPts val="600"/>
              </a:spcAft>
              <a:buNone/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何时需要复核或改判？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400050"/>
            <a:ext cx="10934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投资逻辑是平台的核心业务对象</a:t>
            </a:r>
            <a:endParaRPr sz="28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0" y="1714500"/>
            <a:ext cx="27146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05450" y="18288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</a:t>
            </a:r>
            <a:endParaRPr sz="142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505450" y="2190750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 / 行业 / 主题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82000" y="1714500"/>
            <a:ext cx="27146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553450" y="18288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核心观点</a:t>
            </a:r>
            <a:endParaRPr sz="142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553450" y="2190750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价值判断与适用边界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334000" y="3048000"/>
            <a:ext cx="2714625" cy="1047750"/>
          </a:xfrm>
          <a:prstGeom prst="roundRect">
            <a:avLst>
              <a:gd name="adj" fmla="val 10909"/>
            </a:avLst>
          </a:prstGeom>
          <a:solidFill>
            <a:srgbClr val="E8F7F4"/>
          </a:solidFill>
          <a:ln w="9525">
            <a:solidFill>
              <a:srgbClr val="A6DE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505450" y="31623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0F9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9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关键假设</a:t>
            </a:r>
            <a:endParaRPr sz="1425" b="1">
              <a:solidFill>
                <a:srgbClr val="0F9D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505450" y="3524250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可证伪的业务判断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382000" y="3048000"/>
            <a:ext cx="2714625" cy="1047750"/>
          </a:xfrm>
          <a:prstGeom prst="roundRect">
            <a:avLst>
              <a:gd name="adj" fmla="val 10909"/>
            </a:avLst>
          </a:prstGeom>
          <a:solidFill>
            <a:srgbClr val="E8F7F4"/>
          </a:solidFill>
          <a:ln w="9525">
            <a:solidFill>
              <a:srgbClr val="A6DE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553450" y="31623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0F9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9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指标与预期</a:t>
            </a:r>
            <a:endParaRPr sz="1425" b="1">
              <a:solidFill>
                <a:srgbClr val="0F9D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553450" y="3524250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口径、方向、时间窗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334000" y="4381500"/>
            <a:ext cx="27146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505450" y="44958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证据与事件</a:t>
            </a:r>
            <a:endParaRPr sz="142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505450" y="4857750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 / 冲击 / 待确认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382000" y="4381500"/>
            <a:ext cx="27146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553450" y="44958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状态与版本</a:t>
            </a:r>
            <a:endParaRPr sz="142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553450" y="4857750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责任人、复核、变更原因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1143000" y="1238250"/>
            <a:ext cx="9906000" cy="1000125"/>
          </a:xfrm>
          <a:prstGeom prst="rect">
            <a:avLst/>
          </a:prstGeom>
        </p:spPr>
        <p:txBody>
          <a:bodyPr wrap="square" lIns="76200" tIns="47625" rIns="76200" bIns="47625" anchor="ctr">
            <a:normAutofit/>
          </a:bodyPr>
          <a:lstStyle/>
          <a:p>
            <a:pPr algn="ctr" defTabSz="266700">
              <a:lnSpc>
                <a:spcPct val="108000"/>
              </a:lnSpc>
              <a:buNone/>
              <a:def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示例：华夏储能公布订单增速下滑。平台不止做摘要，而是定位其影响的“需求持续性”假设，重算相关指标状态，并生成待确认的逻辑变更。</a:t>
            </a:r>
            <a:endParaRPr sz="16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400050"/>
            <a:ext cx="10934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一条新信息，如何改变已有判断</a:t>
            </a:r>
            <a:endParaRPr sz="28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3000375"/>
            <a:ext cx="1809750" cy="15716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1E66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3143250"/>
            <a:ext cx="1543050" cy="285750"/>
          </a:xfrm>
          <a:prstGeom prst="roundRect">
            <a:avLst>
              <a:gd name="adj" fmla="val 50000"/>
            </a:avLst>
          </a:prstGeom>
          <a:solidFill>
            <a:srgbClr val="1E66D0"/>
          </a:solidFill>
          <a:ln w="0">
            <a:solidFill>
              <a:srgbClr val="1E66D0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新信息进入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3638550"/>
            <a:ext cx="1543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公告 / 财报 / 纪要</a:t>
            </a:r>
            <a:endParaRPr sz="13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2533650" y="3619500"/>
            <a:ext cx="323850" cy="323850"/>
          </a:xfrm>
          <a:prstGeom prst="rightArrow">
            <a:avLst/>
          </a:prstGeom>
          <a:solidFill>
            <a:srgbClr val="D7E0EA"/>
          </a:solidFill>
          <a:ln w="0">
            <a:solidFill>
              <a:srgbClr val="D7E0E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895600" y="3000375"/>
            <a:ext cx="1809750" cy="15716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0F9D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3028950" y="3143250"/>
            <a:ext cx="1543050" cy="285750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0">
            <a:solidFill>
              <a:srgbClr val="0F9D8A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事件抽取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28950" y="3638550"/>
            <a:ext cx="1543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订单增速下滑</a:t>
            </a:r>
            <a:endParaRPr sz="13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4743450" y="3619500"/>
            <a:ext cx="323850" cy="323850"/>
          </a:xfrm>
          <a:prstGeom prst="rightArrow">
            <a:avLst/>
          </a:prstGeom>
          <a:solidFill>
            <a:srgbClr val="D7E0EA"/>
          </a:solidFill>
          <a:ln w="0">
            <a:solidFill>
              <a:srgbClr val="D7E0EA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5105400" y="3000375"/>
            <a:ext cx="1809750" cy="15716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8A1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圆角矩形 14"/>
          <p:cNvSpPr>
            <a:spLocks noGrp="1"/>
          </p:cNvSpPr>
          <p:nvPr/>
        </p:nvSpPr>
        <p:spPr>
          <a:xfrm>
            <a:off x="5238750" y="3143250"/>
            <a:ext cx="1543050" cy="285750"/>
          </a:xfrm>
          <a:prstGeom prst="roundRect">
            <a:avLst>
              <a:gd name="adj" fmla="val 50000"/>
            </a:avLst>
          </a:prstGeom>
          <a:solidFill>
            <a:srgbClr val="C98A17"/>
          </a:solidFill>
          <a:ln w="0">
            <a:solidFill>
              <a:srgbClr val="C98A17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逻辑映射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38750" y="3638550"/>
            <a:ext cx="1543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影响关键假设</a:t>
            </a:r>
            <a:endParaRPr sz="13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6953250" y="3619500"/>
            <a:ext cx="323850" cy="323850"/>
          </a:xfrm>
          <a:prstGeom prst="rightArrow">
            <a:avLst/>
          </a:prstGeom>
          <a:solidFill>
            <a:srgbClr val="D7E0EA"/>
          </a:solidFill>
          <a:ln w="0">
            <a:solidFill>
              <a:srgbClr val="D7E0EA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7315200" y="3000375"/>
            <a:ext cx="1809750" cy="15716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4474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圆角矩形 18"/>
          <p:cNvSpPr>
            <a:spLocks noGrp="1"/>
          </p:cNvSpPr>
          <p:nvPr/>
        </p:nvSpPr>
        <p:spPr>
          <a:xfrm>
            <a:off x="7448550" y="3143250"/>
            <a:ext cx="1543050" cy="285750"/>
          </a:xfrm>
          <a:prstGeom prst="roundRect">
            <a:avLst>
              <a:gd name="adj" fmla="val 50000"/>
            </a:avLst>
          </a:prstGeom>
          <a:solidFill>
            <a:srgbClr val="B44747"/>
          </a:solidFill>
          <a:ln w="0">
            <a:solidFill>
              <a:srgbClr val="B44747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指标验证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48550" y="3638550"/>
            <a:ext cx="1543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实际值低于预期</a:t>
            </a:r>
            <a:endParaRPr sz="13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9163050" y="3619500"/>
            <a:ext cx="323850" cy="323850"/>
          </a:xfrm>
          <a:prstGeom prst="rightArrow">
            <a:avLst/>
          </a:prstGeom>
          <a:solidFill>
            <a:srgbClr val="D7E0EA"/>
          </a:solidFill>
          <a:ln w="0">
            <a:solidFill>
              <a:srgbClr val="D7E0EA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9525000" y="3000375"/>
            <a:ext cx="1809750" cy="15716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2385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58350" y="3143250"/>
            <a:ext cx="1543050" cy="285750"/>
          </a:xfrm>
          <a:prstGeom prst="roundRect">
            <a:avLst>
              <a:gd name="adj" fmla="val 50000"/>
            </a:avLst>
          </a:prstGeom>
          <a:solidFill>
            <a:srgbClr val="23855B"/>
          </a:solidFill>
          <a:ln w="0">
            <a:solidFill>
              <a:srgbClr val="23855B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人工确认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658350" y="3638550"/>
            <a:ext cx="1543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维持 / 削弱 / 失效</a:t>
            </a:r>
            <a:endParaRPr sz="13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714500" y="5000625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输出：逻辑状态变化 + 证据链 + 待办 + 版本记录，而不是未经确认的自动决策</a:t>
            </a:r>
            <a:endParaRPr sz="150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628650" y="400050"/>
            <a:ext cx="109347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原型把研究闭环落到四个核心页面</a:t>
            </a:r>
            <a:endParaRPr sz="28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28650" y="1238250"/>
            <a:ext cx="5219700" cy="230505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7" name="图片 22"/>
          <p:cNvPicPr>
            <a:picLocks noChangeAspect="1"/>
          </p:cNvPicPr>
          <p:nvPr/>
        </p:nvPicPr>
        <p:blipFill>
          <a:blip r:embed="rId1"/>
          <a:srcRect t="20052" b="20052"/>
          <a:stretch>
            <a:fillRect/>
          </a:stretch>
        </p:blipFill>
        <p:spPr>
          <a:xfrm>
            <a:off x="723900" y="1333500"/>
            <a:ext cx="5029200" cy="1695450"/>
          </a:xfrm>
          <a:prstGeom prst="roundRect">
            <a:avLst>
              <a:gd name="adj" fmla="val 4494"/>
            </a:avLst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62000" y="3057525"/>
            <a:ext cx="166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研究工作台</a:t>
            </a:r>
            <a:endParaRPr sz="12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38400" y="305752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公司、逻辑、指标与待办总览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172200" y="1238250"/>
            <a:ext cx="5219700" cy="230505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1" name="图片 26"/>
          <p:cNvPicPr>
            <a:picLocks noChangeAspect="1"/>
          </p:cNvPicPr>
          <p:nvPr/>
        </p:nvPicPr>
        <p:blipFill>
          <a:blip r:embed="rId2"/>
          <a:srcRect t="20052" b="20052"/>
          <a:stretch>
            <a:fillRect/>
          </a:stretch>
        </p:blipFill>
        <p:spPr>
          <a:xfrm>
            <a:off x="6267450" y="1333500"/>
            <a:ext cx="5029200" cy="1695450"/>
          </a:xfrm>
          <a:prstGeom prst="roundRect">
            <a:avLst>
              <a:gd name="adj" fmla="val 4494"/>
            </a:avLst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305550" y="3057525"/>
            <a:ext cx="166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投资逻辑卡</a:t>
            </a:r>
            <a:endParaRPr sz="12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81950" y="305752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假设、证据与验证状态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28650" y="3810000"/>
            <a:ext cx="5219700" cy="230505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5" name="图片 30"/>
          <p:cNvPicPr>
            <a:picLocks noChangeAspect="1"/>
          </p:cNvPicPr>
          <p:nvPr/>
        </p:nvPicPr>
        <p:blipFill>
          <a:blip r:embed="rId3"/>
          <a:srcRect t="20034" b="20034"/>
          <a:stretch>
            <a:fillRect/>
          </a:stretch>
        </p:blipFill>
        <p:spPr>
          <a:xfrm>
            <a:off x="723900" y="3905250"/>
            <a:ext cx="5029200" cy="1695450"/>
          </a:xfrm>
          <a:prstGeom prst="roundRect">
            <a:avLst>
              <a:gd name="adj" fmla="val 4494"/>
            </a:avLst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762000" y="5629275"/>
            <a:ext cx="166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逻辑变化雷达</a:t>
            </a:r>
            <a:endParaRPr sz="12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438400" y="562927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新事件与受影响判断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172200" y="3810000"/>
            <a:ext cx="5219700" cy="230505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9" name="图片 34"/>
          <p:cNvPicPr>
            <a:picLocks noChangeAspect="1"/>
          </p:cNvPicPr>
          <p:nvPr/>
        </p:nvPicPr>
        <p:blipFill>
          <a:blip r:embed="rId4"/>
          <a:srcRect t="20052" b="20052"/>
          <a:stretch>
            <a:fillRect/>
          </a:stretch>
        </p:blipFill>
        <p:spPr>
          <a:xfrm>
            <a:off x="6267450" y="3905250"/>
            <a:ext cx="5029200" cy="1695450"/>
          </a:xfrm>
          <a:prstGeom prst="roundRect">
            <a:avLst>
              <a:gd name="adj" fmla="val 4494"/>
            </a:avLst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6305550" y="5629275"/>
            <a:ext cx="166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复核与复盘</a:t>
            </a:r>
            <a:endParaRPr sz="12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1950" y="562927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人工确认、版本与决策记录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628650" y="400050"/>
            <a:ext cx="109347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人机协作边界：AI 理解，程序计算，研究员确认</a:t>
            </a:r>
            <a:endParaRPr sz="28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23900" y="1619250"/>
            <a:ext cx="3333750" cy="3429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1E66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圆角矩形 5"/>
          <p:cNvSpPr>
            <a:spLocks noGrp="1"/>
          </p:cNvSpPr>
          <p:nvPr/>
        </p:nvSpPr>
        <p:spPr>
          <a:xfrm>
            <a:off x="971550" y="1809750"/>
            <a:ext cx="2838450" cy="285750"/>
          </a:xfrm>
          <a:prstGeom prst="roundRect">
            <a:avLst>
              <a:gd name="adj" fmla="val 50000"/>
            </a:avLst>
          </a:prstGeom>
          <a:solidFill>
            <a:srgbClr val="1E66D0"/>
          </a:solidFill>
          <a:ln w="0">
            <a:solidFill>
              <a:srgbClr val="1E66D0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助手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2238375"/>
            <a:ext cx="2838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理解与建议</a:t>
            </a:r>
            <a:endParaRPr sz="16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781300"/>
            <a:ext cx="26860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资料摘要与引用定位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事件和观点抽取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受影响假设候选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复核说明草稿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38650" y="1619250"/>
            <a:ext cx="3333750" cy="3429000"/>
          </a:xfrm>
          <a:prstGeom prst="roundRect">
            <a:avLst>
              <a:gd name="adj" fmla="val 3429"/>
            </a:avLst>
          </a:prstGeom>
          <a:solidFill>
            <a:srgbClr val="E8F7F4"/>
          </a:solidFill>
          <a:ln w="9525">
            <a:solidFill>
              <a:srgbClr val="0F9D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圆角矩形 9"/>
          <p:cNvSpPr>
            <a:spLocks noGrp="1"/>
          </p:cNvSpPr>
          <p:nvPr/>
        </p:nvSpPr>
        <p:spPr>
          <a:xfrm>
            <a:off x="4686300" y="1809750"/>
            <a:ext cx="2838450" cy="285750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0">
            <a:solidFill>
              <a:srgbClr val="0F9D8A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规则与数据服务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86300" y="2238375"/>
            <a:ext cx="2838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确定性计算</a:t>
            </a:r>
            <a:endParaRPr sz="16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62500" y="2781300"/>
            <a:ext cx="26860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指标口径与时间对齐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阈值、趋势和偏差计算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权限、版本与状态流转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任务编排与审计记录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53400" y="1619250"/>
            <a:ext cx="3333750" cy="3429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98A1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圆角矩形 13"/>
          <p:cNvSpPr>
            <a:spLocks noGrp="1"/>
          </p:cNvSpPr>
          <p:nvPr/>
        </p:nvSpPr>
        <p:spPr>
          <a:xfrm>
            <a:off x="8401050" y="1809750"/>
            <a:ext cx="2838450" cy="285750"/>
          </a:xfrm>
          <a:prstGeom prst="roundRect">
            <a:avLst>
              <a:gd name="adj" fmla="val 50000"/>
            </a:avLst>
          </a:prstGeom>
          <a:solidFill>
            <a:srgbClr val="C98A17"/>
          </a:solidFill>
          <a:ln w="0">
            <a:solidFill>
              <a:srgbClr val="C98A17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研究员 / 评审者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01050" y="2238375"/>
            <a:ext cx="2838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最终责任</a:t>
            </a:r>
            <a:endParaRPr sz="16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77250" y="2781300"/>
            <a:ext cx="26860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确认逻辑与证据关系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修改预期与判断状态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处理冲突与例外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对正式结论负责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24000" y="5381625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正式状态和证据关系写入系统前必须经过人工确认；AI 输出保留来源、置信度和版本。</a:t>
            </a:r>
            <a:endParaRPr sz="150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628650" y="400050"/>
            <a:ext cx="109347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产品架构围绕投资逻辑闭环分层，量化能力通过专业平台接入</a:t>
            </a:r>
            <a:endParaRPr sz="28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60" y="1116330"/>
            <a:ext cx="7405370" cy="5235575"/>
          </a:xfrm>
          <a:prstGeom prst="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9191625" y="1524000"/>
            <a:ext cx="2571750" cy="4229735"/>
          </a:xfrm>
          <a:prstGeom prst="roundRect">
            <a:avLst>
              <a:gd name="adj" fmla="val 4444"/>
            </a:avLst>
          </a:prstGeom>
          <a:solidFill>
            <a:srgbClr val="F5F8FC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/>
        </p:nvSpPr>
        <p:spPr>
          <a:xfrm>
            <a:off x="9429750" y="182943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0">
            <a:solidFill>
              <a:srgbClr val="13233A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架构要点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429750" y="2380615"/>
            <a:ext cx="20955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 fontScale="85394"/>
          </a:bodyPr>
          <a:lstStyle/>
          <a:p>
            <a:pPr algn="l">
              <a:lnSpc>
                <a:spcPct val="113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核心闭环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逻辑卡 + Thesis Engine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13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数据原则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主数据、指标口径、来源与版本统一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13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量化边界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 内做轻量验证；复杂因子、归因和组合回测接专业平台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13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治理要求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正式状态入库前人工确认，全链路可审计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628650" y="400050"/>
            <a:ext cx="109347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先验证闭环价值，再扩展数据覆盖与量化能力</a:t>
            </a:r>
            <a:endParaRPr sz="2850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666875"/>
            <a:ext cx="3333750" cy="271462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1E66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847850"/>
            <a:ext cx="2952750" cy="285750"/>
          </a:xfrm>
          <a:prstGeom prst="roundRect">
            <a:avLst>
              <a:gd name="adj" fmla="val 50000"/>
            </a:avLst>
          </a:prstGeom>
          <a:solidFill>
            <a:srgbClr val="1E66D0"/>
          </a:solidFill>
          <a:ln w="0">
            <a:solidFill>
              <a:srgbClr val="1E66D0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1｜可用闭环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232410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0–</a:t>
            </a:r>
            <a:r>
              <a: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周</a:t>
            </a:r>
            <a:endParaRPr sz="135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8575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逻辑卡可创建与维护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资料引用可追溯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事件影响可人工确认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38650" y="1666875"/>
            <a:ext cx="3333750" cy="271462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0F9D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圆角矩形 9"/>
          <p:cNvSpPr>
            <a:spLocks noGrp="1"/>
          </p:cNvSpPr>
          <p:nvPr/>
        </p:nvSpPr>
        <p:spPr>
          <a:xfrm>
            <a:off x="4629150" y="1847850"/>
            <a:ext cx="2952750" cy="285750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0">
            <a:solidFill>
              <a:srgbClr val="0F9D8A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2｜团队试点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86300" y="232410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</a:t>
            </a:r>
            <a:r>
              <a: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周</a:t>
            </a:r>
            <a:endParaRPr sz="135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62500" y="28575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接入核心内部/外部数据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覆盖 1–2 个研究小组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形成复核与复盘机制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91500" y="1666875"/>
            <a:ext cx="3333750" cy="271462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8A1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82000" y="1847850"/>
            <a:ext cx="2952750" cy="285750"/>
          </a:xfrm>
          <a:prstGeom prst="roundRect">
            <a:avLst>
              <a:gd name="adj" fmla="val 50000"/>
            </a:avLst>
          </a:prstGeom>
          <a:solidFill>
            <a:srgbClr val="C98A17"/>
          </a:solidFill>
          <a:ln w="0">
            <a:solidFill>
              <a:srgbClr val="C98A17"/>
            </a:solidFill>
            <a:prstDash val="solid"/>
          </a:ln>
        </p:spPr>
        <p:txBody>
          <a:bodyPr wrap="square" lIns="76200" tIns="19050" rIns="76200" bIns="19050" anchor="ctr">
            <a:normAutofit fontScale="97581"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3｜能力扩展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39150" y="232410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35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周后</a:t>
            </a:r>
            <a:endParaRPr sz="135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15350" y="28575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扩展行业与指标模板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接入因子/回测平台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沉淀组织研究资产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" y="47625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 建议验收指标</a:t>
            </a:r>
            <a:endParaRPr sz="172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143250" y="4667250"/>
            <a:ext cx="1905000" cy="85725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3257550" y="47625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 fontScale="93371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</a:t>
            </a:r>
            <a:endParaRPr sz="12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257550" y="506730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资料→逻辑更新耗时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5238750" y="4667250"/>
            <a:ext cx="1905000" cy="857250"/>
          </a:xfrm>
          <a:prstGeom prst="roundRect">
            <a:avLst>
              <a:gd name="adj" fmla="val 13333"/>
            </a:avLst>
          </a:prstGeom>
          <a:solidFill>
            <a:srgbClr val="E8F7F4"/>
          </a:solidFill>
          <a:ln w="9525">
            <a:solidFill>
              <a:srgbClr val="0F9D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5353050" y="47625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 fontScale="93371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</a:t>
            </a:r>
            <a:endParaRPr sz="12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53050" y="506730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 fontScale="94589"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引用可追溯率 / 人工采纳率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334250" y="4667250"/>
            <a:ext cx="1905000" cy="85725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47625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 fontScale="93371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</a:t>
            </a:r>
            <a:endParaRPr sz="12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48550" y="506730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待办闭环率 / 版本完整率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29750" y="4667250"/>
            <a:ext cx="1905000" cy="85725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9544050" y="47625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 fontScale="93371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</a:t>
            </a:r>
            <a:endParaRPr sz="1275" b="1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544050" y="506730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可复用逻辑与复盘数量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2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3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4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5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6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7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8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9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10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11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12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13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14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15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16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17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ags/tag18.xml><?xml version="1.0" encoding="utf-8"?>
<p:tagLst xmlns:p="http://schemas.openxmlformats.org/presentationml/2006/main">
  <p:tag name="KSO_WM_DIAGRAM_VIRTUALLY_FRAME" val="{&quot;height&quot;:292.5,&quot;left&quot;:420,&quot;top&quot;:135,&quot;width&quot;:453.7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2289</Words>
  <Application>WPS 演示</Application>
  <PresentationFormat>Converted Presentation</PresentationFormat>
  <Paragraphs>354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徐杰</cp:lastModifiedBy>
  <cp:revision>3</cp:revision>
  <dcterms:created xsi:type="dcterms:W3CDTF">2026-08-03T14:29:00Z</dcterms:created>
  <dcterms:modified xsi:type="dcterms:W3CDTF">2026-08-03T15:41:50Z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F79B5B0AB4AD4102B80C65D655139A19_12</vt:lpwstr>
  </property>
</Properties>
</file>