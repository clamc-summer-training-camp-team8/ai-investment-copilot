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c66529f3541d8" /><Relationship Type="http://schemas.openxmlformats.org/officeDocument/2006/relationships/extended-properties" Target="/docProps/app.xml" Id="Rffb37cab09ac47a9" /><Relationship Type="http://schemas.openxmlformats.org/officeDocument/2006/relationships/officeDocument" Target="/ppt/presentation.xml" Id="Ra74c01fe84ac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2528599ec473d"/>
  </p:sldMasterIdLst>
  <p:notesMasterIdLst>
    <p:notesMasterId xmlns:r="http://schemas.openxmlformats.org/officeDocument/2006/relationships" r:id="R02866fd04e9141b9"/>
  </p:notesMasterIdLst>
  <p:sldIdLst>
    <p:sldId xmlns:r="http://schemas.openxmlformats.org/officeDocument/2006/relationships" id="256" r:id="R2236b64f2d5a4b26"/>
    <p:sldId xmlns:r="http://schemas.openxmlformats.org/officeDocument/2006/relationships" id="257" r:id="Rae8d75f2b13a473f"/>
    <p:sldId xmlns:r="http://schemas.openxmlformats.org/officeDocument/2006/relationships" id="258" r:id="R5d2e78ce6a8040bf"/>
    <p:sldId xmlns:r="http://schemas.openxmlformats.org/officeDocument/2006/relationships" id="259" r:id="R935b56873c5b48f7"/>
    <p:sldId xmlns:r="http://schemas.openxmlformats.org/officeDocument/2006/relationships" id="260" r:id="Re11bb6cb8bdc4c9a"/>
    <p:sldId xmlns:r="http://schemas.openxmlformats.org/officeDocument/2006/relationships" id="261" r:id="R8ce51e9c56e848e1"/>
    <p:sldId xmlns:r="http://schemas.openxmlformats.org/officeDocument/2006/relationships" id="262" r:id="R5cbba817a26e47b0"/>
    <p:sldId xmlns:r="http://schemas.openxmlformats.org/officeDocument/2006/relationships" id="263" r:id="Reb49e71b834f4025"/>
    <p:sldId xmlns:r="http://schemas.openxmlformats.org/officeDocument/2006/relationships" id="264" r:id="R40c027072594437b"/>
    <p:sldId xmlns:r="http://schemas.openxmlformats.org/officeDocument/2006/relationships" id="265" r:id="Reeed6acbd2144a4f"/>
    <p:sldId xmlns:r="http://schemas.openxmlformats.org/officeDocument/2006/relationships" id="266" r:id="R4f8e0147b9c041a1"/>
    <p:sldId xmlns:r="http://schemas.openxmlformats.org/officeDocument/2006/relationships" id="267" r:id="R2a8b60ac05f04d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4d994a7204258" /><Relationship Type="http://schemas.openxmlformats.org/officeDocument/2006/relationships/slideMaster" Target="/ppt/slideMasters/slideMaster1.xml" Id="Ra642528599ec473d" /><Relationship Type="http://schemas.openxmlformats.org/officeDocument/2006/relationships/notesMaster" Target="/ppt/notesMasters/notesMaster1.xml" Id="R02866fd04e9141b9" /><Relationship Type="http://schemas.openxmlformats.org/officeDocument/2006/relationships/presProps" Target="/ppt/presProps.xml" Id="R5faf3f5caf6e4bdf" /><Relationship Type="http://schemas.openxmlformats.org/officeDocument/2006/relationships/tableStyles" Target="/ppt/tableStyles.xml" Id="Rea73cb5803c741df" /><Relationship Type="http://schemas.openxmlformats.org/officeDocument/2006/relationships/slide" Target="/ppt/slides/slide1.xml" Id="R2236b64f2d5a4b26" /><Relationship Type="http://schemas.openxmlformats.org/officeDocument/2006/relationships/slide" Target="/ppt/slides/slide2.xml" Id="Rae8d75f2b13a473f" /><Relationship Type="http://schemas.openxmlformats.org/officeDocument/2006/relationships/slide" Target="/ppt/slides/slide3.xml" Id="R5d2e78ce6a8040bf" /><Relationship Type="http://schemas.openxmlformats.org/officeDocument/2006/relationships/slide" Target="/ppt/slides/slide4.xml" Id="R935b56873c5b48f7" /><Relationship Type="http://schemas.openxmlformats.org/officeDocument/2006/relationships/slide" Target="/ppt/slides/slide5.xml" Id="Re11bb6cb8bdc4c9a" /><Relationship Type="http://schemas.openxmlformats.org/officeDocument/2006/relationships/slide" Target="/ppt/slides/slide6.xml" Id="R8ce51e9c56e848e1" /><Relationship Type="http://schemas.openxmlformats.org/officeDocument/2006/relationships/slide" Target="/ppt/slides/slide7.xml" Id="R5cbba817a26e47b0" /><Relationship Type="http://schemas.openxmlformats.org/officeDocument/2006/relationships/slide" Target="/ppt/slides/slide8.xml" Id="Reb49e71b834f4025" /><Relationship Type="http://schemas.openxmlformats.org/officeDocument/2006/relationships/slide" Target="/ppt/slides/slide9.xml" Id="R40c027072594437b" /><Relationship Type="http://schemas.openxmlformats.org/officeDocument/2006/relationships/slide" Target="/ppt/slides/slide10.xml" Id="Reeed6acbd2144a4f" /><Relationship Type="http://schemas.openxmlformats.org/officeDocument/2006/relationships/slide" Target="/ppt/slides/slide11.xml" Id="R4f8e0147b9c041a1" /><Relationship Type="http://schemas.openxmlformats.org/officeDocument/2006/relationships/slide" Target="/ppt/slides/slide12.xml" Id="R2a8b60ac05f04d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b02fb1d21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34ca1688c4e4c" /><Relationship Type="http://schemas.openxmlformats.org/officeDocument/2006/relationships/notesMaster" Target="/ppt/notesMasters/notesMaster1.xml" Id="R8b64c469cd1c43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aec827415c4b24" /><Relationship Type="http://schemas.openxmlformats.org/officeDocument/2006/relationships/notesMaster" Target="/ppt/notesMasters/notesMaster1.xml" Id="R11e824bd3fb6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62d4221e9b4a28" /><Relationship Type="http://schemas.openxmlformats.org/officeDocument/2006/relationships/notesMaster" Target="/ppt/notesMasters/notesMaster1.xml" Id="R32fef92d9b9a48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a598a58dc94888" /><Relationship Type="http://schemas.openxmlformats.org/officeDocument/2006/relationships/notesMaster" Target="/ppt/notesMasters/notesMaster1.xml" Id="Radcd3a99a41849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0837aad89449f" /><Relationship Type="http://schemas.openxmlformats.org/officeDocument/2006/relationships/notesMaster" Target="/ppt/notesMasters/notesMaster1.xml" Id="Rf5e2eab5b0ac41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7e6f1635a4491a" /><Relationship Type="http://schemas.openxmlformats.org/officeDocument/2006/relationships/notesMaster" Target="/ppt/notesMasters/notesMaster1.xml" Id="R0daf47b90f794d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c475cb63f4246" /><Relationship Type="http://schemas.openxmlformats.org/officeDocument/2006/relationships/notesMaster" Target="/ppt/notesMasters/notesMaster1.xml" Id="Ra363b19979c8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60952b4c8143aa" /><Relationship Type="http://schemas.openxmlformats.org/officeDocument/2006/relationships/notesMaster" Target="/ppt/notesMasters/notesMaster1.xml" Id="R5880bc94afd645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a034c68e434d86" /><Relationship Type="http://schemas.openxmlformats.org/officeDocument/2006/relationships/notesMaster" Target="/ppt/notesMasters/notesMaster1.xml" Id="R145abfe13ea84e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e20c45a744860" /><Relationship Type="http://schemas.openxmlformats.org/officeDocument/2006/relationships/notesMaster" Target="/ppt/notesMasters/notesMaster1.xml" Id="R447cc3edd05a4e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eb1746b77b4a90" /><Relationship Type="http://schemas.openxmlformats.org/officeDocument/2006/relationships/notesMaster" Target="/ppt/notesMasters/notesMaster1.xml" Id="R1f8809f1204045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62edc09142439a" /><Relationship Type="http://schemas.openxmlformats.org/officeDocument/2006/relationships/notesMaster" Target="/ppt/notesMasters/notesMaster1.xml" Id="R984beec7164b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37343ae64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37ca85156e4578" /><Relationship Type="http://schemas.openxmlformats.org/officeDocument/2006/relationships/slideLayout" Target="/ppt/slideLayouts/slideLayout1.xml" Id="R8cf6f47edebc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f6f47edebc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684f6e9e847bc" /><Relationship Type="http://schemas.openxmlformats.org/officeDocument/2006/relationships/notesSlide" Target="/ppt/notesSlides/notesSlide1.xml" Id="R5a6f736d27af44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7e528dbdc4c4d" /><Relationship Type="http://schemas.openxmlformats.org/officeDocument/2006/relationships/notesSlide" Target="/ppt/notesSlides/notesSlide2.xml" Id="R4a817d4b135c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6ac416fd245b9" /><Relationship Type="http://schemas.openxmlformats.org/officeDocument/2006/relationships/notesSlide" Target="/ppt/notesSlides/notesSlide3.xml" Id="R7fcbe411b2ad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1730917b483c" /><Relationship Type="http://schemas.openxmlformats.org/officeDocument/2006/relationships/notesSlide" Target="/ppt/notesSlides/notesSlide4.xml" Id="R62e0078b925a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e14eaed2346bf" /><Relationship Type="http://schemas.openxmlformats.org/officeDocument/2006/relationships/notesSlide" Target="/ppt/notesSlides/notesSlide5.xml" Id="Rc61a47e6c4d84f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6a776e176428f" /><Relationship Type="http://schemas.openxmlformats.org/officeDocument/2006/relationships/notesSlide" Target="/ppt/notesSlides/notesSlide6.xml" Id="Rc05af02ec59a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976d854ff4b81" /><Relationship Type="http://schemas.openxmlformats.org/officeDocument/2006/relationships/notesSlide" Target="/ppt/notesSlides/notesSlide7.xml" Id="R37a85e8e1d4b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7abfffd534613" /><Relationship Type="http://schemas.openxmlformats.org/officeDocument/2006/relationships/notesSlide" Target="/ppt/notesSlides/notesSlide8.xml" Id="R3c65fae8d85e4f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922f991e0479d" /><Relationship Type="http://schemas.openxmlformats.org/officeDocument/2006/relationships/notesSlide" Target="/ppt/notesSlides/notesSlide9.xml" Id="R30f1771147b541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8e4f2005e425c" /><Relationship Type="http://schemas.openxmlformats.org/officeDocument/2006/relationships/notesSlide" Target="/ppt/notesSlides/notesSlide10.xml" Id="R8cf59054c98f4f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42b86fd4b431f" /><Relationship Type="http://schemas.openxmlformats.org/officeDocument/2006/relationships/notesSlide" Target="/ppt/notesSlides/notesSlide11.xml" Id="R8cb1ce2a2a31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3849d2a6a4f64" /><Relationship Type="http://schemas.openxmlformats.org/officeDocument/2006/relationships/notesSlide" Target="/ppt/notesSlides/notesSlide12.xml" Id="R21ba4ff70f2e40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E4A5-6A7E-4B73-B969-04C39A3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D8382-9B55-47D2-9F5F-021EC62D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E87A0-FB18-41A7-93F8-AF37951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E5E2"/>
                </a:solidFill>
              </a:defRPr>
            </a:pPr>
            <a:r>
              <a:rPr sz="1350" b="1">
                <a:solidFill>
                  <a:srgbClr val="9DE5E2"/>
                </a:solidFill>
              </a:rPr>
              <a:t>中期答辩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21415-7489-4506-87BE-588D5E8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AI Investment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FF1C3-C2AA-4FFB-BEE2-2E79D61F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E7F3"/>
                </a:solidFill>
              </a:defRPr>
            </a:pPr>
            <a:r>
              <a:rPr sz="2100" b="0">
                <a:solidFill>
                  <a:srgbClr val="D7E7F3"/>
                </a:solidFill>
              </a:rPr>
              <a:t>面向行业覆盖与公司研究的</a:t>
            </a:r>
          </a:p>
          <a:p xmlns:a="http://schemas.openxmlformats.org/drawingml/2006/main">
            <a:pPr algn="l">
              <a:defRPr sz="2100" b="0">
                <a:solidFill>
                  <a:srgbClr val="D7E7F3"/>
                </a:solidFill>
              </a:defRPr>
            </a:pPr>
            <a:r>
              <a:rPr sz="2100" b="0">
                <a:solidFill>
                  <a:srgbClr val="D7E7F3"/>
                </a:solidFill>
              </a:rPr>
              <a:t>投资逻辑全生命周期管理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EC60C-E739-4BEA-9ECF-088B39B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2288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7BE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46958-76DA-4200-99B5-6EF5866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把研究判断沉淀为可验证、可追溯、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可复盘的逻辑资产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D3B1C-1D9A-4DC7-82AF-F345496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5D2"/>
                </a:solidFill>
              </a:defRPr>
            </a:pPr>
            <a:r>
              <a:rPr sz="1200" b="0">
                <a:solidFill>
                  <a:srgbClr val="B7C5D2"/>
                </a:solidFill>
              </a:rPr>
              <a:t>项目组 · 2026 年 8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51E47-917A-4396-BC5E-B49FE98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573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E5E2"/>
                </a:solidFill>
              </a:defRPr>
            </a:pPr>
            <a:r>
              <a:rPr sz="2250" b="1">
                <a:solidFill>
                  <a:srgbClr val="9DE5E2"/>
                </a:solidFill>
              </a:rPr>
              <a:t>从“资料堆积”</a:t>
            </a:r>
          </a:p>
          <a:p xmlns:a="http://schemas.openxmlformats.org/drawingml/2006/main">
            <a:pPr algn="l">
              <a:defRPr sz="2250" b="1">
                <a:solidFill>
                  <a:srgbClr val="9DE5E2"/>
                </a:solidFill>
              </a:defRPr>
            </a:pPr>
            <a:r>
              <a:rPr sz="2250" b="1">
                <a:solidFill>
                  <a:srgbClr val="9DE5E2"/>
                </a:solidFill>
              </a:rPr>
              <a:t>到“逻辑演化”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BBF2D-91F6-4871-BAEC-FB044CF8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研究员判断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AI 候选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人工确认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版本审计</a:t>
            </a:r>
          </a:p>
        </p:txBody>
      </p:sp>
    </p:spTree>
    <p:extLst>
      <p:ext uri="{BB962C8B-B14F-4D97-AF65-F5344CB8AC3E}">
        <p14:creationId xmlns:p14="http://schemas.microsoft.com/office/powerpoint/2010/main" val="1502352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50E30-6301-4C84-812E-F88301A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01 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AAC1-33A4-4739-83A1-A25DF699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投研工作真正难点，是让判断在变化中仍可回溯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3EBCA-0A19-403E-A6D0-5D0A4F02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3D4A1-2F45-400E-864B-F8723EE7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9EA33-0CE3-4890-AD07-64CC1BE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68685-D01A-4C49-BF28-1B2AAFE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资料持续涌入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E1B68-4D33-4756-9854-A669954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公告、财报、新闻、研报分散；新信息难以回到原始判断。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CE489-D884-4F4D-A372-C1C74A0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D3D28-0A0A-4C80-831D-4B9EB25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285B4-A56B-422E-9CFA-649DB61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判断缺少结构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F0F0D-520B-4642-8845-FBCB043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81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观点常停留在文档或沟通中，缺少可验证假设和失效条件。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20190-E5AD-4EC4-AAC4-AAA22C9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15D29-9471-42D8-9652-E2B6332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0F34D-6561-4AB3-A07E-58211830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状态更新不透明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8F614-D5DA-4897-BAA1-162123F4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为什么改变观点、谁确认、依据何在，难形成可审计记录。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F63EA-C8CA-43DB-9FA8-6E143E5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6A2B0-CA84-4773-87C0-E4112FB2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DFB70-FE70-4925-AF93-CB016C8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29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事后复盘成本高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D0871-CB8C-48CE-B510-AD399E0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910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难还原某时点可得信息与逻辑演化，经验无法沉淀。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49F95-CD60-46B8-9AA8-1850F210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核心矛盾：资料在增加，但“投资逻辑—证据—决策”的关系没有被持续管理。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98508-BD18-4A6B-847F-CC73858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14ADF-3A56-4292-BCA2-BD1240E6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4125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0106F-6FDE-4186-9C4A-6A48A061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02 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3AF2-8CF8-449A-A3AE-D89AD5C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我们管理的不是一次性结论，而是投资逻辑的全生命周期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EFD3D-AEE2-409F-ABCE-BB6D41B0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CB38-9218-4BC7-B6A6-2CB6968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885950" cy="2333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6EDD2-2888-4384-AA75-2E6AD7B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0A22C-3DDB-4132-B9A6-85CE3DD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行业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74BA6-EFD3-43EC-8313-AA2D094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预定义三行业的研究框架、资料源与共性变量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76443-EE7C-4187-9DB0-A374989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95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C582F-1763-4069-8D2F-461FC108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33625"/>
            <a:ext cx="1885950" cy="2333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5DADC-6612-4CC8-B421-85ED9A25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8E56F-7ACD-4A01-BCF9-729ABFD4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公司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01889-CC71-48DC-8F37-B03BC32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行业内可持续纳入；形成公司资料与研究覆盖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AA6A0-9E16-4A6D-91AD-B7390750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95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CA1F2-2CBF-4A91-A34B-C99B220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1885950" cy="2333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C47D6-0C6E-4D14-BD7C-89981FE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BB33E-3D99-4DA4-BBFC-A3C5C69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52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主投资逻辑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D67D0-CDB6-4247-ABE8-BCFD8986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861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按明确期限与研究视角管理；保留创建、验证、关闭与继任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0CF79-209D-4528-A2DE-9B27F0F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FF5B1-DA6A-4927-9D00-76D77CD8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885950" cy="2333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64F0E-5288-4628-81BC-AF2D8581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39C7D-29E2-47BE-9E3A-9BA48F4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核心假设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B8D30-C55C-4E80-9821-2E76CAC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每条逻辑聚焦 3–4 条可证伪的关键前提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D0CE4-2FB8-4E8D-B4EC-27AF8716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95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79A6C-1A7F-408E-99D8-8C4968D9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885950" cy="2333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0791C-E08F-4B5C-B6C9-DDF7E15C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C1E8B-DA23-4899-BEC9-E62E1623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52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证据与决策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6B3E1-9EBD-4418-BE2E-1BC2AFF2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861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新资料影响候选经人工确认，写入版本、审计与复盘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2CC73-B6FF-4C8F-A965-3969BC10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行业 → 公司 → 逻辑 → 假设 → 指标/失效条件 → 事件与证据 → 人工确认 → 版本与复盘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08ECA-CBE2-44B0-B502-B52106A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EF853-D328-4384-B7FD-CC3C36C3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1351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B944F-B232-45C3-8E4C-5F1CFFE8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03 核心对象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68762-8CD4-42AC-8092-616A4CD7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一张逻辑卡片，把研究观点转成可验证、可治理的对象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607EB-BF11-45D4-9199-F435544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25406-D0EB-4DAD-A6EB-FC1B7083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59D0-0735-4E05-B634-60176693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投资逻辑卡片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174B4-BF55-451D-AD61-911F549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7F3"/>
                </a:solidFill>
              </a:defRPr>
            </a:pPr>
            <a:r>
              <a:rPr sz="1575" b="0">
                <a:solidFill>
                  <a:srgbClr val="D7E7F3"/>
                </a:solidFill>
              </a:rPr>
              <a:t>公司 / 研究期限 / 负责人</a:t>
            </a:r>
          </a:p>
          <a:p xmlns:a="http://schemas.openxmlformats.org/drawingml/2006/main">
            <a:pPr algn="l">
              <a:defRPr sz="1575" b="0">
                <a:solidFill>
                  <a:srgbClr val="D7E7F3"/>
                </a:solidFill>
              </a:defRPr>
            </a:pPr>
            <a:r>
              <a:rPr sz="1575" b="0">
                <a:solidFill>
                  <a:srgbClr val="D7E7F3"/>
                </a:solidFill>
              </a:rPr>
              <a:t>核心观点与研究视角</a:t>
            </a:r>
          </a:p>
          <a:p xmlns:a="http://schemas.openxmlformats.org/drawingml/2006/main">
            <a:pPr algn="l">
              <a:defRPr sz="1575" b="0">
                <a:solidFill>
                  <a:srgbClr val="D7E7F3"/>
                </a:solidFill>
              </a:defRPr>
            </a:pPr>
            <a:r>
              <a:rPr sz="1575" b="0">
                <a:solidFill>
                  <a:srgbClr val="D7E7F3"/>
                </a:solidFill>
              </a:rPr>
              <a:t>当前状态与下次复核日</a:t>
            </a:r>
          </a:p>
          <a:p xmlns:a="http://schemas.openxmlformats.org/drawingml/2006/main">
            <a:pPr algn="l">
              <a:defRPr sz="1575" b="0">
                <a:solidFill>
                  <a:srgbClr val="D7E7F3"/>
                </a:solidFill>
              </a:defRPr>
            </a:pPr>
            <a:r>
              <a:rPr sz="1575" b="0">
                <a:solidFill>
                  <a:srgbClr val="D7E7F3"/>
                </a:solidFill>
              </a:rPr>
              <a:t>当前版本与历史快照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629AD-AF62-476D-88AE-708988A3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DE5E2"/>
                </a:solidFill>
              </a:defRPr>
            </a:pPr>
            <a:r>
              <a:rPr sz="1200" b="1">
                <a:solidFill>
                  <a:srgbClr val="9DE5E2"/>
                </a:solidFill>
              </a:rPr>
              <a:t>正式发布后持续演化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D8C4D-F51D-46FA-9DF9-68B96A0C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2667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96D00-BEFB-429B-9853-A27C77DF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核心假设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C214D-F3D5-428A-AD24-42BB24B4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支持 / 冲突 / 待确认，健康度可见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B468A-09A4-42AF-92CB-EDCE810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38350"/>
            <a:ext cx="2667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9A2CD-D618-4B5B-BE92-11FFAAB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指标与阈值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B6DED-C5CD-4B9B-A8E1-EA0E6F0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670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程序化验证预期差、趋势、失效条件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74A72-7B23-40C5-9A16-FB49B863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52850"/>
            <a:ext cx="2667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44899-A866-47DE-BEC4-5C1F549F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81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原文证据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BD46C-6074-4298-9218-0544EE91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815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段落定位、披露时间、事实与推断分离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CAC69-D400-4CB5-90D3-797BA17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52850"/>
            <a:ext cx="2667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7E1F6-C6AA-4D5A-81D9-A7739868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81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人工决策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62D61-2DDC-4794-91D1-C75FA79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815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确认人、理由、前后状态与审计留痕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7C736-69F6-4E76-9A4C-EC00F71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63516-EA84-4935-ACE0-837E7FD9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0105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20B3B-1B28-4D6F-A5B8-6E210E3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04 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C0499-3DCB-4519-B7D1-B57B0F1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新资料进入后，AI 与程序分别做擅长的事，汇合于人工复核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3C12C-01A5-4AFD-930F-03E4089F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F254-704A-4493-9A02-2CAA276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B83D6-E11F-479C-9CB3-2971B906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1. 行业知识库 + 公司资料 + 研究员观点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B1560-CB25-42D5-8E4A-5C6FBF1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145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FE7FE-6E57-48E8-8AF3-16EE6DAF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97C35-99F1-42FC-A68E-3E0FD9AA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050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2. AI 生成可编辑逻辑草稿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4DC14-5217-4CCF-9D5B-5E462BD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145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DF48-978F-40EF-9B20-0C804C1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E26F8-62C3-4B13-AACE-6C0D72A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3. 假设、指标、阈值与失效条件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FD9C8-2427-4676-AD5E-401D520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76525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24D63-856D-4F68-8668-9590694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F0F40-AC05-4270-A845-A9B7141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4. 研究员发布正式逻辑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A481C-B540-4798-A5A7-B2C3D2DC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718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928E6-F133-4A98-8A60-6F5E77A1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1FF14-BBEF-46CD-B3B5-5B92A39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623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5. 持续资料/事件进入与指标更新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EDB0F-EA93-4A06-8242-7EA6A635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28CEA-9774-4CF6-835C-8094280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3E03B-FF12-46E3-98E4-F289FAE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623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6. AI 候选影响 + 程序化指标验证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CD60F-CCA4-40FA-8B26-CBF6DE3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33825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CFD4D-9AD7-4BEF-8D5A-1ACE5459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11D2F-E256-4D8D-93B3-35E48E9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12F"/>
                </a:solidFill>
              </a:defRPr>
            </a:pPr>
            <a:r>
              <a:rPr sz="1275" b="1">
                <a:solidFill>
                  <a:srgbClr val="12212F"/>
                </a:solidFill>
              </a:rPr>
              <a:t>7. 人工复核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2DE2A-78EA-4A9D-B6A1-8184404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291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88AFE-FCD0-4ED7-BD9F-16B0908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672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B24D9-EF0F-4C64-899F-5A3BC04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8. 健康度、状态、版本更新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37DC6-392B-4392-B434-80F8338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2917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12646-2A81-486C-B95A-2601118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67225"/>
            <a:ext cx="304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C822BB-0C5E-431E-8F5A-8407D76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9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9. 时间线复盘与规则/模型迭代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6C414-95C9-43A7-9C9F-FE581BC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AI：理解非结构化资料、生成影响候选与引用　　 程序：计算指标、阈值、预期差与失效条件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34E3D-6D3D-49C8-A00A-C754DAC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BCC58-9C66-47A5-805F-3AD0947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3056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70B169-C9EC-48D3-836A-3FB8618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05 已完成的可演示闭环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4C476-36FE-40F2-BA83-9C93629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前端 Demo 展示：一条逻辑如何被新资料挑战、复核并沉淀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B640F-A18F-4EDA-B131-A1B74E1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1F589-9A09-4551-8087-8B70EA56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232D-BC93-4403-B3C3-D8EB6ACB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BEBB"/>
                </a:solidFill>
              </a:defRPr>
            </a:pPr>
            <a:r>
              <a:rPr sz="1350" b="1">
                <a:solidFill>
                  <a:srgbClr val="17BEB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6F56B-BB9F-41EA-B820-4EAB3BA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已发布逻辑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AD735-AEE8-4500-BB83-52F35F5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289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95654-2C61-43FB-A43D-A9141E0D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1C2BD-464B-4C3F-8FA3-25FF782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BEBB"/>
                </a:solidFill>
              </a:defRPr>
            </a:pPr>
            <a:r>
              <a:rPr sz="1350" b="1">
                <a:solidFill>
                  <a:srgbClr val="17BEB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F451E-51EE-4C13-91EA-5C32225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上传固定公开资料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EF27C-8C8D-4F05-B072-8BA91E9B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B5BB2-B5FE-417C-9B06-0FA24A8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FBBE0-EDAD-446E-909C-D1CEEE0A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FF"/>
                </a:solidFill>
              </a:defRPr>
            </a:pPr>
            <a:r>
              <a:rPr sz="1350" b="1">
                <a:solidFill>
                  <a:srgbClr val="7B61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8157B-7B85-453D-86F0-8C00AABA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查看 AI 影响候选与原文引用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8A62C-7613-4445-8DEF-E526918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289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BF844-55FD-4ADF-9205-77E2575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3898A-D9F5-4F11-B4E7-CAB4CEB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400"/>
                </a:solidFill>
              </a:defRPr>
            </a:pPr>
            <a:r>
              <a:rPr sz="1350" b="1">
                <a:solidFill>
                  <a:srgbClr val="A664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A1117-48B7-46F8-99A7-B1EBB39B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人工复核并填写理由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3A464-8955-4D73-8B7B-47F584EA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289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21953-B6E5-4FD4-9CB0-CED24861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44E5B-A6CB-44C9-9548-398F7C2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BEBB"/>
                </a:solidFill>
              </a:defRPr>
            </a:pPr>
            <a:r>
              <a:rPr sz="1350" b="1">
                <a:solidFill>
                  <a:srgbClr val="17BEBB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C52F8-9271-47A0-A60C-C913528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状态建议处理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E3252-0873-42BD-B081-10E0D9E4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289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4CB2B-1AD6-4E75-A61A-00454A39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49D16-9281-4639-A31E-C929BB32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BEBB"/>
                </a:solidFill>
              </a:defRPr>
            </a:pPr>
            <a:r>
              <a:rPr sz="1350" b="1">
                <a:solidFill>
                  <a:srgbClr val="17BEBB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3C2EB-432A-4436-BCC8-A0FE43A7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时间线与审计更新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ED0F0-8704-4250-AE8F-127C2AC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62CCE-D496-45D9-AAC2-B89F57D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BEBB"/>
                </a:solidFill>
              </a:defRPr>
            </a:pPr>
            <a:r>
              <a:rPr sz="1650" b="1">
                <a:solidFill>
                  <a:srgbClr val="17BEBB"/>
                </a:solidFill>
              </a:rPr>
              <a:t>视频演示位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B2244-9CF2-47AE-BE97-198690C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演示重点：事实、AI 候选、程序计算、人工结论有明确视觉区分；AI 不直接修改正式逻辑。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345249-0359-4F6F-A38B-16525C1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625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此处嵌入或播放前端 Demo 录屏（建议 60–90 秒）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88F56-EE15-4E34-B85F-85333A7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FC0BD9-C629-4004-B641-9F5FE89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0791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48C66-EB7C-4122-A086-2CBC3D11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06 已有工程基础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887E8-D3F8-47FA-9200-175CC8D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代码已形成“投研对象 + 人工门禁 + 可追溯计算”的 MVP 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5FCA9-4F48-470F-A812-6F7F375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8C8CA-D098-4A3C-8C7F-21065CE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D7D3-99C4-4638-94B0-12BC831F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领域对象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09181-4F8D-4153-BCB0-4F327F57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Security、Thesis、Hypothesis、Metric、Event、Evidence、EvidenceRelation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32DE0-B6DD-4058-8A99-9D3B22A4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6011A-4C06-4B3E-A916-2E0B764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治理能力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D30B7-37C7-47BB-86A4-580F633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ThesisVersion、ReviewTask、AuditLog；状态建议与人工确认分离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2D83-7FE2-4465-9F84-EB99F9FF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3C8EF-A84B-492E-9AD4-2352E813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数据与解析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AEC7C-EAF0-4BD7-84F4-EFE64860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3377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Document、DocumentSegment、解析/切片/去重/引用定位；公开数据版本化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A74B6-57C4-4CB5-A539-8DCC935C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A2C80-D423-4A27-B9A0-CA3A0F12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AI 与规则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D8DF3-712C-4552-B2C9-7DBCBF5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291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AI 输出走 JSON Schema；数值验证由 app/calc 的确定性规则完成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38065-C705-44C8-BC3A-DE7CA12A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2653C-FF64-4D8D-92DF-A633D3F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工程保障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205C3-7B3D-4CA8-9CD3-33604CEE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244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FastAPI + PostgreSQL + Alembic；单元/集成/契约测试；OpenAPI 契约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D41B7-5134-461B-9BD0-D688A44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当前真实数据验证：三行业九公司、45 条逻辑、135 条假设；450/450 条可追溯证据。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96DB1-C694-491D-9F1A-9ACC7798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258E6-9E0F-4B0C-8E08-9FE7C51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9028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9C282-5DD8-4687-BB7B-293CA50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07 后端框架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CCAC5-669F-4783-9295-726E630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应用服务负责正式变更；Agent 异步生成候选；RAG 为 Agent 提供可引用上下文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8A1B-6EBE-4049-8478-CAD207B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66903-2E36-494B-91A8-36A4CAC9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14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E1FFB-ECBB-4D1B-B358-ABD8ECE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API /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95100-AFD8-4D5F-B046-9BFFE7F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接口、权限、前端工作台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3C27-57E1-4CB5-B388-995E2E6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0" cy="171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BACA8-5DA0-4457-BC08-A880023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914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D8174-E66C-438E-826E-EBD0BDF5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38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Application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92C0A-9521-44C9-85EF-33E8185B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908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Coverage · Knowledge · Thesis Lifecycle · Review · Timeline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129DA-13A6-4891-8CC1-FCF13FD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0" cy="171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05130-432E-4DFC-A529-666A09BE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95675"/>
            <a:ext cx="914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FD0BB-1805-4499-B2B0-00CEE42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Agent Orchestrator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A8BA4-4552-42AA-9DDA-0C7DA30E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9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文档理解 · 逻辑草稿 · 事件影响 · 假设校验/状态建议</a:t>
            </a:r>
          </a:p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只写候选，不直接改正式逻辑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10300-E590-452E-B1A3-997E68E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0" cy="171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1D837-D679-4EBE-89CF-7855B401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4825"/>
            <a:ext cx="914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FD25A-DBA0-4D1F-8586-48A4EA38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RAG Context 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89BCA-CF39-455C-BA08-5F09E58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29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当前逻辑/假设/指标/历史证据 + 公司资料库 + 行业资料库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D25E0-CC8F-4FD8-9DE5-5F733117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24425"/>
            <a:ext cx="0" cy="171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E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25CAD-0CE9-4D97-A2C4-CFA2CCB7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914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22BF8-23A0-49A6-B806-B36EA7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95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Domain + Repository + 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E20C2-C351-455E-BEDA-1C3619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482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业务库：行业、公司、逻辑、假设、指标、证据、版本、审计</a:t>
            </a:r>
          </a:p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知识库：原文、切片、向量、关键词索引、引用定位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56456-A86F-4CFA-A9D0-BDB5B79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CCBC9-DD2C-4D15-9DDD-3E92E5C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9944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5740A-85C1-4DFB-8E7A-7BFDB31C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08 动态知识库与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A91E5-A4C9-49C6-9666-43AB1D5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RAG 不是“大文档搜索”，而是按研究范围构建可引用的决策上下文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DC26E-6D5E-4DFB-81A3-E09B2F1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78BF2-C457-4ADB-8A68-3FA0549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2B352-D79D-4DBD-8754-5AC1AF2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6F149-159B-458F-B7CE-481CB4E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资料进入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C3801-8F30-48C1-8C2A-AA502F9E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33750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行业/公司资料采集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→ 解析、切片、去重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→ 事实/事件抽取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→ 引用定位与质量检查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F95AB-0F77-473E-9392-C223DFA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BE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7B842-E00F-4078-AFA9-B3E0ADB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DFD89-F368-4290-827D-E80BCA11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7670E-A447-4161-A4C1-D6370F2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分层检索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7BBC7-8A29-492C-9B62-03BEC4C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33750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① 当前逻辑与已确认假设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② 当前公司的历史资料/事件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③ 所属行业的共性知识与变量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8E314-24E0-4E52-AC42-51D86DC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BE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8F778-11A6-4C6C-B269-FD4ED19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DE15E-56BE-4634-B167-3D47B1D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0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7332D-9AAA-40B6-947F-8D2DF468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Agent 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484DD-6210-4A12-AA62-CC598BA7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33750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影响的既有假设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支持/冲突/待判断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强度与置信度</a:t>
            </a:r>
          </a:p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可打开的原文引用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DF46A-CD6D-4DAC-BF7A-C53607E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目标：每一条 AI 候选都能回到“检索范围 + 原文片段 + 模型/提示词版本”，再等待人工确认。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BC23E-FDB9-42A6-83CB-824D373E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C4787-4DD2-4478-8837-54396C4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3562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EBA9F-45A2-4A14-9680-33A0C670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09 当前验证与边界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3814C-2C51-43F1-AFF9-66F9554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我们验证的是闭环治理能力，不宣称 AI 已能产生交易结论或稳定创造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475D4-10E2-433F-B20E-162D203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FD93-DD62-4F21-A21E-98A3FA1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BEBB"/>
                </a:solidFill>
              </a:defRPr>
            </a:pPr>
            <a:r>
              <a:rPr sz="1875" b="1">
                <a:solidFill>
                  <a:srgbClr val="17BEBB"/>
                </a:solidFill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F17FA-AF4D-4271-B4B9-0BEF0FE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B942"/>
                </a:solidFill>
              </a:defRPr>
            </a:pPr>
            <a:r>
              <a:rPr sz="1875" b="1">
                <a:solidFill>
                  <a:srgbClr val="F4B942"/>
                </a:solidFill>
              </a:rPr>
              <a:t>下一阶段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66384-CBC8-41D1-BB72-6FDB0204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B3DBC-941A-48A6-AF85-475541F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已验证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F48B8-6045-497A-9564-444CC99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三行业九公司数据范围与公开披露资料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9660A-1692-4005-9036-C771A5D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280C1-44A8-4E73-A8C2-CF809F9F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已验证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EFA0B-6F91-4385-B2BC-EEC49D6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逻辑—假设—证据—状态建议—人工门禁—版本/审计链路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6FE8F-0DF8-4964-B8A3-998F4A9D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02418-7370-4F78-8F8D-B015258C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BEBB"/>
                </a:solidFill>
              </a:defRPr>
            </a:pPr>
            <a:r>
              <a:rPr sz="1200" b="1">
                <a:solidFill>
                  <a:srgbClr val="17BEBB"/>
                </a:solidFill>
              </a:rPr>
              <a:t>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ACFCC-8EB1-497F-8278-5ADB823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高影响输出 450/450 可追溯；AI/规则不自动改正式状态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24938-9005-442A-B130-166C8046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314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5FEB3-DCFB-4929-9112-2308E78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6400"/>
                </a:solidFill>
              </a:defRPr>
            </a:pPr>
            <a:r>
              <a:rPr sz="1200" b="1">
                <a:solidFill>
                  <a:srgbClr val="A66400"/>
                </a:solidFill>
              </a:rPr>
              <a:t>尚待验证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58024-00B6-424D-95F1-00C7776C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动态采集、向量/关键词检索与异步任务的生产化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3C727-FA1D-4C84-A3F3-1952CDE9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93D51-9585-4FFE-96DE-E0B115B6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6400"/>
                </a:solidFill>
              </a:defRPr>
            </a:pPr>
            <a:r>
              <a:rPr sz="1200" b="1">
                <a:solidFill>
                  <a:srgbClr val="A66400"/>
                </a:solidFill>
              </a:rPr>
              <a:t>尚待验证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7C86D-B455-4BB1-8CE4-25F3CEF8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独立人工金标、研究员人工基线耗时、跨行业语义共识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25244-AE38-41CE-929D-0463120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314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34441-D7CD-4E8D-BC61-1872A74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6400"/>
                </a:solidFill>
              </a:defRPr>
            </a:pPr>
            <a:r>
              <a:rPr sz="1200" b="1">
                <a:solidFill>
                  <a:srgbClr val="A66400"/>
                </a:solidFill>
              </a:rPr>
              <a:t>尚待验证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3E335-5294-42F4-8128-0C7449A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2F"/>
                </a:solidFill>
              </a:defRPr>
            </a:pPr>
            <a:r>
              <a:rPr sz="1275" b="0">
                <a:solidFill>
                  <a:srgbClr val="12212F"/>
                </a:solidFill>
              </a:rPr>
              <a:t>真实模型接入后的召回、准确、采纳率与长期稳定性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1AACF-2740-4913-BBFE-0DE5DDD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F4A64-7877-4CE7-AF78-61F9BDC3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9448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225B-6311-4CDF-ADB5-ABD5938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EBB"/>
                </a:solidFill>
              </a:defRPr>
            </a:pPr>
            <a:r>
              <a:rPr sz="1050" b="1">
                <a:solidFill>
                  <a:srgbClr val="17BEBB"/>
                </a:solidFill>
              </a:rPr>
              <a:t>10 下一阶段计划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D85B8-5582-4E15-BE73-F863E9E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先把长期运行的基础设施做扎实，再扩大行业与公司覆盖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1DF51-7933-4704-B893-99C0C697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117E1-FC7F-4514-B489-11CD4A7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3C087-87A8-4260-B927-7EB3E5A3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1162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B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5DBB-AE12-481C-8A8A-A99EDA6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阶段一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87D67-478A-487D-8FB2-A9C00FF2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526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补齐 Industry / Coverage 与同公司跨期逻辑生命周期规则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F9174-F9DA-4188-8E26-5676554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288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行业固定、公司可扩展、逻辑可关闭/继任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BB9E8-C77D-4652-9AD5-0600CDA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3CDB2-0173-408B-992E-6A28002E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162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B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CAC0-1305-4893-972E-9F912067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阶段二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7B590-463E-437F-A8DF-1617217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575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落地文档入库、索引、RAG Retrieval 与异步 Job 框架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4B958-49AA-4360-98C1-3CCA369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动态知识库与任务可观测、可重试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10C2A-8357-4DDB-8ECC-6E6A28BE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12A5C-D03B-4795-82DC-86983D4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1162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B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B02E8-61D7-4A3E-BEA2-AEE4AFA5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阶段三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85981-BEF4-4FB6-AA71-4174ADC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624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接入事件影响 Agent，形成候选—复核—版本更新闭环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9D688-3F2A-42DD-BDA1-AB3963D6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38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模型只写候选，人工保持最终控制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BC8C3-646C-45F3-B2C4-03B8B2A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251D8-1304-406D-85E1-AD48FC22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162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02E9D-2540-4F3F-984A-E43C31E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阶段四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74544-CC31-499C-B69B-06532CF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672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构建独立金标与研究员对照实验，评估采纳率与效率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1934B-EA18-4B54-9E99-85FAACF8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验证真实产品价值，持续修正规则与模型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80585-8058-41D8-AD34-BE4F96F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EC0A6-E38D-41D3-9942-DCC8E053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17497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958FD-E341-423D-A563-BCAE639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E5E2"/>
                </a:solidFill>
              </a:defRPr>
            </a:pPr>
            <a:r>
              <a:rPr sz="1350" b="1">
                <a:solidFill>
                  <a:srgbClr val="9DE5E2"/>
                </a:solidFill>
              </a:rPr>
              <a:t>中期结论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A9DE7-F70E-420A-A6B8-B5AECD2F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让投资逻辑成为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可持续演化的研究资产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E587E-9CB1-4BF8-A0D3-2312FB0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7F3"/>
                </a:solidFill>
              </a:defRPr>
            </a:pPr>
            <a:r>
              <a:rPr sz="1800" b="0">
                <a:solidFill>
                  <a:srgbClr val="D7E7F3"/>
                </a:solidFill>
              </a:rPr>
              <a:t>已完成：逻辑对象定义、单逻辑可点击闭环、人工门禁与审计骨架、</a:t>
            </a:r>
          </a:p>
          <a:p xmlns:a="http://schemas.openxmlformats.org/drawingml/2006/main">
            <a:pPr algn="l">
              <a:defRPr sz="1800" b="0">
                <a:solidFill>
                  <a:srgbClr val="D7E7F3"/>
                </a:solidFill>
              </a:defRPr>
            </a:pPr>
            <a:r>
              <a:rPr sz="1800" b="0">
                <a:solidFill>
                  <a:srgbClr val="D7E7F3"/>
                </a:solidFill>
              </a:rPr>
              <a:t>真实公开数据的初步验证。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2DA3F-7A78-44EF-B847-0B2B55D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8003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7BEB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BF2F5-38D8-47B2-98D4-B258118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下一步：以动态 RAG 知识库与异步 Agent 编排为底座，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在固定行业能力边界内持续扩展公司与跨期逻辑管理。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F74A4-BCA2-48A1-9797-E650C926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DE5E2"/>
                </a:solidFill>
              </a:defRPr>
            </a:pPr>
            <a:r>
              <a:rPr sz="1800" b="1">
                <a:solidFill>
                  <a:srgbClr val="9DE5E2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958687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2026-08-13T05:22:29.9880000Z</dcterms:created>
  <dcterms:modified xsi:type="dcterms:W3CDTF">2026-08-13T05:22:29.9880000Z</dcterms:modified>
</coreProperties>
</file>