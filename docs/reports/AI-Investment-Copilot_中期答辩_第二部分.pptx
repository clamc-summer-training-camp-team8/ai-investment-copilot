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8" r:id="rId2"/>
    <p:sldId id="269" r:id="rId3"/>
    <p:sldId id="264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0" autoAdjust="0"/>
    <p:restoredTop sz="94660"/>
  </p:normalViewPr>
  <p:slideViewPr>
    <p:cSldViewPr snapToGrid="0">
      <p:cViewPr>
        <p:scale>
          <a:sx n="100" d="100"/>
          <a:sy n="100" d="100"/>
        </p:scale>
        <p:origin x="23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0C42E-94BF-7277-2C8F-74B7BE07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3C4E3-91BF-8A1A-98FD-0EEF542F0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E9DC8-4BC5-FD84-5557-C04FA42A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FFE08-E7BF-E1FE-8ADA-0DB38F126E3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3630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AI-Investment-Copilot/docs/architecture/README.md</a:t>
            </a:r>
          </a:p>
          <a:p>
            <a:r>
              <a:t>- AI-Investment-Copilot/app/workers/README.md</a:t>
            </a:r>
          </a:p>
          <a:p>
            <a:r>
              <a:t>- AI-Investment-Copilot/app/services/README.md</a:t>
            </a:r>
          </a:p>
          <a:p>
            <a:r>
              <a:t>- AI-Investment-Copilot/docs/reports/第一阶段项目报告.md（4.2—4.4、5.3）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124-BC0F-5530-71BD-F6F51E03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8FFE931-9D4E-1007-FD5B-33EB40B9D78A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10820400" cy="0"/>
          </a:xfrm>
          <a:prstGeom prst="lin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5AFE2E-9EAB-30AB-B6FB-C2338D0D39A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538A54-F74D-0904-4383-E0AA1F0245C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08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843B94A-4E43-C1FB-2989-449EB0780D0D}"/>
              </a:ext>
            </a:extLst>
          </p:cNvPr>
          <p:cNvSpPr>
            <a:spLocks noGrp="1"/>
          </p:cNvSpPr>
          <p:nvPr/>
        </p:nvSpPr>
        <p:spPr>
          <a:xfrm>
            <a:off x="685800" y="1987550"/>
            <a:ext cx="7482431" cy="552450"/>
          </a:xfrm>
          <a:prstGeom prst="roundRect">
            <a:avLst>
              <a:gd name="adj" fmla="val 13793"/>
            </a:avLst>
          </a:prstGeom>
          <a:solidFill>
            <a:schemeClr val="bg2">
              <a:lumMod val="50000"/>
            </a:schemeClr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506762-3D1D-CD30-4A7A-90CC7E625FFF}"/>
              </a:ext>
            </a:extLst>
          </p:cNvPr>
          <p:cNvSpPr>
            <a:spLocks noGrp="1"/>
          </p:cNvSpPr>
          <p:nvPr/>
        </p:nvSpPr>
        <p:spPr>
          <a:xfrm>
            <a:off x="914400" y="2139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用户交互层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D402D3-8648-0347-5521-742AE4C8935B}"/>
              </a:ext>
            </a:extLst>
          </p:cNvPr>
          <p:cNvSpPr>
            <a:spLocks noGrp="1"/>
          </p:cNvSpPr>
          <p:nvPr/>
        </p:nvSpPr>
        <p:spPr>
          <a:xfrm>
            <a:off x="2476500" y="2139950"/>
            <a:ext cx="868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React Web  ·  FastAPI Router  ·  Pydantic DTO  ·  鉴权与权限过滤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6501BE5-7930-65A8-9677-9BE1D2039C46}"/>
              </a:ext>
            </a:extLst>
          </p:cNvPr>
          <p:cNvSpPr>
            <a:spLocks noGrp="1"/>
          </p:cNvSpPr>
          <p:nvPr/>
        </p:nvSpPr>
        <p:spPr>
          <a:xfrm>
            <a:off x="685800" y="2711450"/>
            <a:ext cx="7482431" cy="552450"/>
          </a:xfrm>
          <a:prstGeom prst="roundRect">
            <a:avLst>
              <a:gd name="adj" fmla="val 13793"/>
            </a:avLst>
          </a:prstGeom>
          <a:solidFill>
            <a:srgbClr val="2E86AB"/>
          </a:solidFill>
          <a:ln w="0">
            <a:solidFill>
              <a:srgbClr val="2E86A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DF11A74-F9A3-2F10-7B26-BBB02FD941CA}"/>
              </a:ext>
            </a:extLst>
          </p:cNvPr>
          <p:cNvSpPr>
            <a:spLocks noGrp="1"/>
          </p:cNvSpPr>
          <p:nvPr/>
        </p:nvSpPr>
        <p:spPr>
          <a:xfrm>
            <a:off x="914400" y="2863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应用</a:t>
            </a:r>
            <a:r>
              <a:rPr lang="zh-CN" altLang="en-US" sz="1500" b="1">
                <a:solidFill>
                  <a:srgbClr val="FFFFFF"/>
                </a:solidFill>
              </a:rPr>
              <a:t>服务层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3AB53E5-84C1-E979-946F-74C7175E98A1}"/>
              </a:ext>
            </a:extLst>
          </p:cNvPr>
          <p:cNvSpPr>
            <a:spLocks noGrp="1"/>
          </p:cNvSpPr>
          <p:nvPr/>
        </p:nvSpPr>
        <p:spPr>
          <a:xfrm>
            <a:off x="2476500" y="2863850"/>
            <a:ext cx="868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ARQ Worker  ·  Redis 任务队列  ·  文档处理  ·  变化处理  ·  复核扫描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F00878F-941E-86EF-FCDE-D84EA3E9EC5B}"/>
              </a:ext>
            </a:extLst>
          </p:cNvPr>
          <p:cNvSpPr>
            <a:spLocks noGrp="1"/>
          </p:cNvSpPr>
          <p:nvPr/>
        </p:nvSpPr>
        <p:spPr>
          <a:xfrm>
            <a:off x="685800" y="3435350"/>
            <a:ext cx="748243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76A5383-63A9-4A62-4B0A-60694F0165DB}"/>
              </a:ext>
            </a:extLst>
          </p:cNvPr>
          <p:cNvSpPr>
            <a:spLocks noGrp="1"/>
          </p:cNvSpPr>
          <p:nvPr/>
        </p:nvSpPr>
        <p:spPr>
          <a:xfrm>
            <a:off x="685800" y="4159250"/>
            <a:ext cx="7482431" cy="552450"/>
          </a:xfrm>
          <a:prstGeom prst="roundRect">
            <a:avLst>
              <a:gd name="adj" fmla="val 13793"/>
            </a:avLst>
          </a:prstGeom>
          <a:solidFill>
            <a:srgbClr val="EEF2F5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AD57679-494E-9448-EAD1-8DEBFFEB8F0A}"/>
              </a:ext>
            </a:extLst>
          </p:cNvPr>
          <p:cNvSpPr>
            <a:spLocks noGrp="1"/>
          </p:cNvSpPr>
          <p:nvPr/>
        </p:nvSpPr>
        <p:spPr>
          <a:xfrm>
            <a:off x="876300" y="3568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AI 与规则</a:t>
            </a:r>
            <a:r>
              <a:rPr lang="zh-CN" altLang="en-US" sz="1500" b="1">
                <a:solidFill>
                  <a:srgbClr val="17202A"/>
                </a:solidFill>
              </a:rPr>
              <a:t>层</a:t>
            </a:r>
            <a:endParaRPr sz="1500" b="1">
              <a:solidFill>
                <a:srgbClr val="17202A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40B0F0F-DFC8-C32A-3EF7-FCDD76E3A402}"/>
              </a:ext>
            </a:extLst>
          </p:cNvPr>
          <p:cNvSpPr>
            <a:spLocks noGrp="1"/>
          </p:cNvSpPr>
          <p:nvPr/>
        </p:nvSpPr>
        <p:spPr>
          <a:xfrm>
            <a:off x="2438400" y="3568700"/>
            <a:ext cx="868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Agent Runtime  ·  Gateway/Provider  ·  Retriever  +  app.calc 确定性计算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3895248-9952-5F87-A2D2-D317AB546B5D}"/>
              </a:ext>
            </a:extLst>
          </p:cNvPr>
          <p:cNvSpPr>
            <a:spLocks noGrp="1"/>
          </p:cNvSpPr>
          <p:nvPr/>
        </p:nvSpPr>
        <p:spPr>
          <a:xfrm>
            <a:off x="685800" y="4883150"/>
            <a:ext cx="748243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E2969A2-C5FD-5028-8A92-2F1B314F33AB}"/>
              </a:ext>
            </a:extLst>
          </p:cNvPr>
          <p:cNvSpPr>
            <a:spLocks noGrp="1"/>
          </p:cNvSpPr>
          <p:nvPr/>
        </p:nvSpPr>
        <p:spPr>
          <a:xfrm>
            <a:off x="914400" y="5035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数据资源层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ACB700F-B3D5-EDFA-17B0-CED6E7C791B7}"/>
              </a:ext>
            </a:extLst>
          </p:cNvPr>
          <p:cNvSpPr>
            <a:spLocks noGrp="1"/>
          </p:cNvSpPr>
          <p:nvPr/>
        </p:nvSpPr>
        <p:spPr>
          <a:xfrm>
            <a:off x="2476500" y="5035550"/>
            <a:ext cx="868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PostgreSQL / pgvector  ·  MinIO  ·  解析切片  ·  Alembic  ·  版本与血缘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0BAA6CA-2C2A-7C8F-86DC-ABCFED155F92}"/>
              </a:ext>
            </a:extLst>
          </p:cNvPr>
          <p:cNvSpPr>
            <a:spLocks noGrp="1"/>
          </p:cNvSpPr>
          <p:nvPr/>
        </p:nvSpPr>
        <p:spPr>
          <a:xfrm>
            <a:off x="685800" y="576897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1897E"/>
                </a:solidFill>
              </a:defRPr>
            </a:pPr>
            <a:r>
              <a:rPr sz="1425" b="1">
                <a:solidFill>
                  <a:srgbClr val="21897E"/>
                </a:solidFill>
              </a:rPr>
              <a:t>架构原则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E980FD4-DED0-4257-88D0-41856047EB7A}"/>
              </a:ext>
            </a:extLst>
          </p:cNvPr>
          <p:cNvSpPr>
            <a:spLocks noGrp="1"/>
          </p:cNvSpPr>
          <p:nvPr/>
        </p:nvSpPr>
        <p:spPr>
          <a:xfrm>
            <a:off x="2202384" y="5768975"/>
            <a:ext cx="847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C4858"/>
                </a:solidFill>
              </a:defRPr>
            </a:pPr>
            <a:r>
              <a:rPr sz="1275" b="0">
                <a:solidFill>
                  <a:srgbClr val="3C4858"/>
                </a:solidFill>
              </a:rPr>
              <a:t>依赖只向下  ·  API 不直连 D</a:t>
            </a:r>
            <a:r>
              <a:rPr lang="en-US" sz="1275" b="0">
                <a:solidFill>
                  <a:srgbClr val="3C4858"/>
                </a:solidFill>
              </a:rPr>
              <a:t>ata</a:t>
            </a:r>
            <a:r>
              <a:rPr sz="1275" b="0">
                <a:solidFill>
                  <a:srgbClr val="3C4858"/>
                </a:solidFill>
              </a:rPr>
              <a:t>B</a:t>
            </a:r>
            <a:r>
              <a:rPr lang="en-US" sz="1275" b="0">
                <a:solidFill>
                  <a:srgbClr val="3C4858"/>
                </a:solidFill>
              </a:rPr>
              <a:t>ase</a:t>
            </a:r>
            <a:r>
              <a:rPr sz="1275" b="0">
                <a:solidFill>
                  <a:srgbClr val="3C4858"/>
                </a:solidFill>
              </a:rPr>
              <a:t>  ·  AI 不计算关键数值  ·  正式状态只由人工确认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7F2BB68-9BB5-844D-E14B-985F541D794F}"/>
              </a:ext>
            </a:extLst>
          </p:cNvPr>
          <p:cNvSpPr>
            <a:spLocks noGrp="1"/>
          </p:cNvSpPr>
          <p:nvPr/>
        </p:nvSpPr>
        <p:spPr>
          <a:xfrm>
            <a:off x="8725939" y="1997076"/>
            <a:ext cx="1897310" cy="343852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C494694-705D-7BE3-C210-89CF53F11AC8}"/>
              </a:ext>
            </a:extLst>
          </p:cNvPr>
          <p:cNvSpPr>
            <a:spLocks noGrp="1"/>
          </p:cNvSpPr>
          <p:nvPr/>
        </p:nvSpPr>
        <p:spPr>
          <a:xfrm>
            <a:off x="9177303" y="2410981"/>
            <a:ext cx="1445946" cy="6429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7202A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核心引擎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639E20B-F8ED-B739-FE19-729A8CECBA5B}"/>
              </a:ext>
            </a:extLst>
          </p:cNvPr>
          <p:cNvSpPr>
            <a:spLocks noGrp="1"/>
          </p:cNvSpPr>
          <p:nvPr/>
        </p:nvSpPr>
        <p:spPr>
          <a:xfrm>
            <a:off x="8888781" y="3349624"/>
            <a:ext cx="1653438" cy="13299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7202A"/>
                </a:solidFill>
              </a:defRPr>
            </a:pPr>
            <a:r>
              <a:rPr lang="zh-CN" altLang="en-US" sz="1600" b="0">
                <a:solidFill>
                  <a:schemeClr val="bg1"/>
                </a:solidFill>
              </a:rPr>
              <a:t>投资逻辑全生命周期管理</a:t>
            </a:r>
            <a:r>
              <a:rPr sz="1600" b="0">
                <a:solidFill>
                  <a:schemeClr val="bg1"/>
                </a:solidFill>
              </a:rPr>
              <a:t>：逻辑、假设、证据、状态机、版本与审计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6BCEF5A-9C40-11B4-6695-48EA0A454A2C}"/>
              </a:ext>
            </a:extLst>
          </p:cNvPr>
          <p:cNvSpPr>
            <a:spLocks noGrp="1"/>
          </p:cNvSpPr>
          <p:nvPr/>
        </p:nvSpPr>
        <p:spPr>
          <a:xfrm>
            <a:off x="914400" y="43211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7202A"/>
                </a:solidFill>
              </a:defRPr>
            </a:pPr>
            <a:r>
              <a:rPr lang="en-US" altLang="zh-CN" sz="1500" b="1">
                <a:solidFill>
                  <a:srgbClr val="17202A"/>
                </a:solidFill>
              </a:rPr>
              <a:t>RAG</a:t>
            </a:r>
            <a:r>
              <a:rPr lang="zh-CN" altLang="en-US" sz="1500" b="1">
                <a:solidFill>
                  <a:srgbClr val="17202A"/>
                </a:solidFill>
              </a:rPr>
              <a:t>上下文层</a:t>
            </a:r>
            <a:endParaRPr sz="1500" b="1">
              <a:solidFill>
                <a:srgbClr val="17202A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294EB9-29CB-26FD-51C5-F2A98F9A0C01}"/>
              </a:ext>
            </a:extLst>
          </p:cNvPr>
          <p:cNvSpPr>
            <a:spLocks noGrp="1"/>
          </p:cNvSpPr>
          <p:nvPr/>
        </p:nvSpPr>
        <p:spPr>
          <a:xfrm>
            <a:off x="2476500" y="4321175"/>
            <a:ext cx="46607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7202A"/>
                </a:solidFill>
              </a:defRPr>
            </a:pPr>
            <a:r>
              <a:rPr lang="zh-CN" altLang="en-US" sz="1350" b="0">
                <a:solidFill>
                  <a:srgbClr val="17202A"/>
                </a:solidFill>
              </a:rPr>
              <a:t>当前逻辑</a:t>
            </a:r>
            <a:r>
              <a:rPr lang="en-US" altLang="zh-CN" sz="1350" b="0">
                <a:solidFill>
                  <a:srgbClr val="17202A"/>
                </a:solidFill>
              </a:rPr>
              <a:t>/</a:t>
            </a:r>
            <a:r>
              <a:rPr lang="zh-CN" altLang="en-US" sz="1350" b="0">
                <a:solidFill>
                  <a:srgbClr val="17202A"/>
                </a:solidFill>
              </a:rPr>
              <a:t>假设</a:t>
            </a:r>
            <a:r>
              <a:rPr lang="en-US" altLang="zh-CN" sz="1350" b="0">
                <a:solidFill>
                  <a:srgbClr val="17202A"/>
                </a:solidFill>
              </a:rPr>
              <a:t>/</a:t>
            </a:r>
            <a:r>
              <a:rPr lang="zh-CN" altLang="en-US" sz="1350" b="0">
                <a:solidFill>
                  <a:srgbClr val="17202A"/>
                </a:solidFill>
              </a:rPr>
              <a:t>指标</a:t>
            </a:r>
            <a:r>
              <a:rPr lang="en-US" altLang="zh-CN" sz="1350" b="0">
                <a:solidFill>
                  <a:srgbClr val="17202A"/>
                </a:solidFill>
              </a:rPr>
              <a:t>/</a:t>
            </a:r>
            <a:r>
              <a:rPr lang="zh-CN" altLang="en-US" sz="1350" b="0">
                <a:solidFill>
                  <a:srgbClr val="17202A"/>
                </a:solidFill>
              </a:rPr>
              <a:t>历史证据 </a:t>
            </a:r>
            <a:r>
              <a:rPr lang="en-US" altLang="zh-CN" sz="1350" b="0">
                <a:solidFill>
                  <a:srgbClr val="17202A"/>
                </a:solidFill>
              </a:rPr>
              <a:t>+ </a:t>
            </a:r>
            <a:r>
              <a:rPr lang="zh-CN" altLang="en-US" sz="1350" b="0">
                <a:solidFill>
                  <a:srgbClr val="17202A"/>
                </a:solidFill>
              </a:rPr>
              <a:t>公司资料库 </a:t>
            </a:r>
            <a:r>
              <a:rPr lang="en-US" altLang="zh-CN" sz="1350" b="0">
                <a:solidFill>
                  <a:srgbClr val="17202A"/>
                </a:solidFill>
              </a:rPr>
              <a:t>+ </a:t>
            </a:r>
            <a:r>
              <a:rPr lang="zh-CN" altLang="en-US" sz="1350" b="0">
                <a:solidFill>
                  <a:srgbClr val="17202A"/>
                </a:solidFill>
              </a:rPr>
              <a:t>行业资料库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2761533-8EDB-7344-EBC8-43FB4EE65C35}"/>
              </a:ext>
            </a:extLst>
          </p:cNvPr>
          <p:cNvSpPr txBox="1"/>
          <p:nvPr/>
        </p:nvSpPr>
        <p:spPr>
          <a:xfrm>
            <a:off x="685800" y="571141"/>
            <a:ext cx="999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3600" b="1">
                <a:solidFill>
                  <a:srgbClr val="17202A"/>
                </a:solidFill>
              </a:defRPr>
            </a:pPr>
            <a:r>
              <a:rPr lang="zh-CN" altLang="en-US" sz="2800" b="1">
                <a:solidFill>
                  <a:srgbClr val="17202A"/>
                </a:solidFill>
              </a:rPr>
              <a:t>整体架构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76A9C74-6F31-4AC7-4EB1-C92EB021F1D3}"/>
              </a:ext>
            </a:extLst>
          </p:cNvPr>
          <p:cNvSpPr>
            <a:spLocks noGrp="1"/>
          </p:cNvSpPr>
          <p:nvPr/>
        </p:nvSpPr>
        <p:spPr>
          <a:xfrm>
            <a:off x="795434" y="120967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6D7785"/>
                </a:solidFill>
              </a:defRPr>
            </a:pPr>
            <a:r>
              <a:rPr lang="zh-CN" altLang="en-US" sz="1400" b="0">
                <a:solidFill>
                  <a:srgbClr val="6D7785"/>
                </a:solidFill>
              </a:rPr>
              <a:t>围绕投资逻辑分层协作，应用服务负责正式变更；</a:t>
            </a:r>
            <a:r>
              <a:rPr lang="en-US" altLang="zh-CN" sz="1400" b="0">
                <a:solidFill>
                  <a:srgbClr val="6D7785"/>
                </a:solidFill>
              </a:rPr>
              <a:t>Agent </a:t>
            </a:r>
            <a:r>
              <a:rPr lang="zh-CN" altLang="en-US" sz="1400" b="0">
                <a:solidFill>
                  <a:srgbClr val="6D7785"/>
                </a:solidFill>
              </a:rPr>
              <a:t>异步生成候选；</a:t>
            </a:r>
            <a:r>
              <a:rPr lang="en-US" altLang="zh-CN" sz="1400" b="0">
                <a:solidFill>
                  <a:srgbClr val="6D7785"/>
                </a:solidFill>
              </a:rPr>
              <a:t>RAG </a:t>
            </a:r>
            <a:r>
              <a:rPr lang="zh-CN" altLang="en-US" sz="1400" b="0">
                <a:solidFill>
                  <a:srgbClr val="6D7785"/>
                </a:solidFill>
              </a:rPr>
              <a:t>为 </a:t>
            </a:r>
            <a:r>
              <a:rPr lang="en-US" altLang="zh-CN" sz="1400" b="0">
                <a:solidFill>
                  <a:srgbClr val="6D7785"/>
                </a:solidFill>
              </a:rPr>
              <a:t>Agent </a:t>
            </a:r>
            <a:r>
              <a:rPr lang="zh-CN" altLang="en-US" sz="1400" b="0">
                <a:solidFill>
                  <a:srgbClr val="6D7785"/>
                </a:solidFill>
              </a:rPr>
              <a:t>提供可引用上下文</a:t>
            </a:r>
          </a:p>
        </p:txBody>
      </p:sp>
    </p:spTree>
    <p:extLst>
      <p:ext uri="{BB962C8B-B14F-4D97-AF65-F5344CB8AC3E}">
        <p14:creationId xmlns:p14="http://schemas.microsoft.com/office/powerpoint/2010/main" val="67762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4-title">
            <a:extLst>
              <a:ext uri="{FF2B5EF4-FFF2-40B4-BE49-F238E27FC236}">
                <a16:creationId xmlns:a16="http://schemas.microsoft.com/office/drawing/2014/main" id="{77D1A9E9-A389-4B11-945E-3380AA563E37}"/>
              </a:ext>
            </a:extLst>
          </p:cNvPr>
          <p:cNvSpPr>
            <a:spLocks noGrp="1"/>
          </p:cNvSpPr>
          <p:nvPr/>
        </p:nvSpPr>
        <p:spPr>
          <a:xfrm>
            <a:off x="685800" y="482600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17202A"/>
                </a:solidFill>
              </a:defRPr>
            </a:pPr>
            <a:r>
              <a:rPr lang="zh-CN" altLang="en-US" sz="2800" b="1">
                <a:solidFill>
                  <a:srgbClr val="17202A"/>
                </a:solidFill>
              </a:rPr>
              <a:t>已</a:t>
            </a:r>
            <a:r>
              <a:rPr sz="2800" b="1">
                <a:solidFill>
                  <a:srgbClr val="17202A"/>
                </a:solidFill>
              </a:rPr>
              <a:t>实现</a:t>
            </a:r>
            <a:r>
              <a:rPr lang="zh-CN" altLang="en-US" sz="2800" b="1">
                <a:solidFill>
                  <a:srgbClr val="17202A"/>
                </a:solidFill>
              </a:rPr>
              <a:t>的内容</a:t>
            </a:r>
            <a:endParaRPr sz="2800" b="1">
              <a:solidFill>
                <a:srgbClr val="17202A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668963-3494-4DFB-ABE4-44A51C094A71}"/>
              </a:ext>
            </a:extLst>
          </p:cNvPr>
          <p:cNvSpPr>
            <a:spLocks noGrp="1"/>
          </p:cNvSpPr>
          <p:nvPr/>
        </p:nvSpPr>
        <p:spPr>
          <a:xfrm>
            <a:off x="685800" y="1012389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6D7785"/>
                </a:solidFill>
              </a:defRPr>
            </a:pPr>
            <a:r>
              <a:rPr lang="zh-CN" altLang="en-US" sz="1425" b="0">
                <a:solidFill>
                  <a:srgbClr val="6D7785"/>
                </a:solidFill>
              </a:rPr>
              <a:t>把文档、</a:t>
            </a:r>
            <a:r>
              <a:rPr lang="en-US" altLang="zh-CN" sz="1425" b="0">
                <a:solidFill>
                  <a:srgbClr val="6D7785"/>
                </a:solidFill>
              </a:rPr>
              <a:t>AI</a:t>
            </a:r>
            <a:r>
              <a:rPr lang="zh-CN" altLang="en-US" sz="1425" b="0">
                <a:solidFill>
                  <a:srgbClr val="6D7785"/>
                </a:solidFill>
              </a:rPr>
              <a:t>、规则与人工决策串成两条闭环，</a:t>
            </a:r>
            <a:r>
              <a:rPr sz="1425" b="0">
                <a:solidFill>
                  <a:srgbClr val="6D7785"/>
                </a:solidFill>
              </a:rPr>
              <a:t>统一由 Worker 编排、Services 落库；失败可重试，正式状态不可被 AI 越权推进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8FA5E8D-10E8-42CC-8900-255D14E4119C}"/>
              </a:ext>
            </a:extLst>
          </p:cNvPr>
          <p:cNvSpPr>
            <a:spLocks noGrp="1"/>
          </p:cNvSpPr>
          <p:nvPr/>
        </p:nvSpPr>
        <p:spPr>
          <a:xfrm>
            <a:off x="685800" y="1394294"/>
            <a:ext cx="10820400" cy="0"/>
          </a:xfrm>
          <a:prstGeom prst="line">
            <a:avLst/>
          </a:prstGeom>
          <a:noFill/>
          <a:ln w="9525">
            <a:solidFill>
              <a:srgbClr val="D7DDE4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395D34-1AF4-46EB-8FCF-9B7BF8C6177F}"/>
              </a:ext>
            </a:extLst>
          </p:cNvPr>
          <p:cNvSpPr>
            <a:spLocks noGrp="1"/>
          </p:cNvSpPr>
          <p:nvPr/>
        </p:nvSpPr>
        <p:spPr>
          <a:xfrm>
            <a:off x="11125200" y="320675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>
                <a:solidFill>
                  <a:srgbClr val="6D7785"/>
                </a:solidFill>
              </a:defRPr>
            </a:pPr>
            <a:r>
              <a:rPr sz="1050" b="1">
                <a:solidFill>
                  <a:srgbClr val="6D7785"/>
                </a:solidFill>
              </a:rPr>
              <a:t>08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EDD2438-C73D-448E-995B-4E5B3B18E874}"/>
              </a:ext>
            </a:extLst>
          </p:cNvPr>
          <p:cNvSpPr>
            <a:spLocks noGrp="1"/>
          </p:cNvSpPr>
          <p:nvPr/>
        </p:nvSpPr>
        <p:spPr>
          <a:xfrm>
            <a:off x="2189149" y="1714533"/>
            <a:ext cx="838200" cy="28575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1E7386B2-DBA1-4565-832F-7813BAD6EA63}"/>
              </a:ext>
            </a:extLst>
          </p:cNvPr>
          <p:cNvSpPr>
            <a:spLocks noGrp="1"/>
          </p:cNvSpPr>
          <p:nvPr/>
        </p:nvSpPr>
        <p:spPr>
          <a:xfrm>
            <a:off x="4648200" y="1714533"/>
            <a:ext cx="838200" cy="28575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C9CDC050-A4A6-4D67-B643-32E6D9FE2020}"/>
              </a:ext>
            </a:extLst>
          </p:cNvPr>
          <p:cNvSpPr>
            <a:spLocks noGrp="1"/>
          </p:cNvSpPr>
          <p:nvPr/>
        </p:nvSpPr>
        <p:spPr>
          <a:xfrm>
            <a:off x="7151675" y="1714533"/>
            <a:ext cx="838200" cy="28575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D54DD37-EA6F-40AD-9C2A-6A876CA50A66}"/>
              </a:ext>
            </a:extLst>
          </p:cNvPr>
          <p:cNvSpPr>
            <a:spLocks noGrp="1"/>
          </p:cNvSpPr>
          <p:nvPr/>
        </p:nvSpPr>
        <p:spPr>
          <a:xfrm>
            <a:off x="636065" y="1576428"/>
            <a:ext cx="1525018" cy="568999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4288">
            <a:solidFill>
              <a:srgbClr val="D7DDE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E6000-13E7-4A51-A61E-9439DA89B01A}"/>
              </a:ext>
            </a:extLst>
          </p:cNvPr>
          <p:cNvSpPr>
            <a:spLocks noGrp="1"/>
          </p:cNvSpPr>
          <p:nvPr/>
        </p:nvSpPr>
        <p:spPr>
          <a:xfrm>
            <a:off x="750365" y="1795503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上传资料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37BE426-013D-4C48-BC35-0D6285C64574}"/>
              </a:ext>
            </a:extLst>
          </p:cNvPr>
          <p:cNvSpPr>
            <a:spLocks noGrp="1"/>
          </p:cNvSpPr>
          <p:nvPr/>
        </p:nvSpPr>
        <p:spPr>
          <a:xfrm>
            <a:off x="3055415" y="1576428"/>
            <a:ext cx="1546252" cy="568999"/>
          </a:xfrm>
          <a:prstGeom prst="roundRect">
            <a:avLst>
              <a:gd name="adj" fmla="val 15789"/>
            </a:avLst>
          </a:prstGeom>
          <a:solidFill>
            <a:srgbClr val="E5F2F7"/>
          </a:solidFill>
          <a:ln w="14288">
            <a:solidFill>
              <a:srgbClr val="2E86A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89D002-4E99-42A6-89F3-E987EB384925}"/>
              </a:ext>
            </a:extLst>
          </p:cNvPr>
          <p:cNvSpPr>
            <a:spLocks noGrp="1"/>
          </p:cNvSpPr>
          <p:nvPr/>
        </p:nvSpPr>
        <p:spPr>
          <a:xfrm>
            <a:off x="3169715" y="1795503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解析/切片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945ED7C-D0DF-4020-951A-05878F476D7D}"/>
              </a:ext>
            </a:extLst>
          </p:cNvPr>
          <p:cNvSpPr>
            <a:spLocks noGrp="1"/>
          </p:cNvSpPr>
          <p:nvPr/>
        </p:nvSpPr>
        <p:spPr>
          <a:xfrm>
            <a:off x="5532933" y="1576428"/>
            <a:ext cx="1600201" cy="568999"/>
          </a:xfrm>
          <a:prstGeom prst="roundRect">
            <a:avLst>
              <a:gd name="adj" fmla="val 15789"/>
            </a:avLst>
          </a:prstGeom>
          <a:solidFill>
            <a:srgbClr val="E2F2EF"/>
          </a:solidFill>
          <a:ln w="14288">
            <a:solidFill>
              <a:srgbClr val="21897E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908365-0759-4B4A-A1AC-9CA9C5F43554}"/>
              </a:ext>
            </a:extLst>
          </p:cNvPr>
          <p:cNvSpPr>
            <a:spLocks noGrp="1"/>
          </p:cNvSpPr>
          <p:nvPr/>
        </p:nvSpPr>
        <p:spPr>
          <a:xfrm>
            <a:off x="5589065" y="1795503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AI 草稿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6117CE2-292B-4FD2-B849-D7B5B8B9D525}"/>
              </a:ext>
            </a:extLst>
          </p:cNvPr>
          <p:cNvSpPr>
            <a:spLocks noGrp="1"/>
          </p:cNvSpPr>
          <p:nvPr/>
        </p:nvSpPr>
        <p:spPr>
          <a:xfrm>
            <a:off x="8008415" y="1576428"/>
            <a:ext cx="1600200" cy="568999"/>
          </a:xfrm>
          <a:prstGeom prst="roundRect">
            <a:avLst>
              <a:gd name="adj" fmla="val 15789"/>
            </a:avLst>
          </a:prstGeom>
          <a:solidFill>
            <a:srgbClr val="E2F2EF"/>
          </a:solidFill>
          <a:ln w="14288">
            <a:solidFill>
              <a:srgbClr val="21897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C242FA-EDAA-4CB9-8809-9224DCC0932A}"/>
              </a:ext>
            </a:extLst>
          </p:cNvPr>
          <p:cNvSpPr>
            <a:spLocks noGrp="1"/>
          </p:cNvSpPr>
          <p:nvPr/>
        </p:nvSpPr>
        <p:spPr>
          <a:xfrm>
            <a:off x="8008415" y="1753317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7202A"/>
                </a:solidFill>
              </a:defRPr>
            </a:pPr>
            <a:r>
              <a:rPr sz="1500" b="1">
                <a:solidFill>
                  <a:srgbClr val="17202A"/>
                </a:solidFill>
              </a:rPr>
              <a:t>人工发布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D69037A-241C-4841-8906-94D3454D95A9}"/>
              </a:ext>
            </a:extLst>
          </p:cNvPr>
          <p:cNvSpPr>
            <a:spLocks noGrp="1"/>
          </p:cNvSpPr>
          <p:nvPr/>
        </p:nvSpPr>
        <p:spPr>
          <a:xfrm>
            <a:off x="10046255" y="1663264"/>
            <a:ext cx="1181610" cy="323850"/>
          </a:xfrm>
          <a:prstGeom prst="roundRect">
            <a:avLst>
              <a:gd name="adj" fmla="val 35294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建卡实现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2EE25AAC-E696-4BDF-BFED-0F26520CBC58}"/>
              </a:ext>
            </a:extLst>
          </p:cNvPr>
          <p:cNvSpPr>
            <a:spLocks noGrp="1"/>
          </p:cNvSpPr>
          <p:nvPr/>
        </p:nvSpPr>
        <p:spPr>
          <a:xfrm>
            <a:off x="1912415" y="2533208"/>
            <a:ext cx="666750" cy="26670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7824A6DE-4732-4555-B155-434032DE3BC1}"/>
              </a:ext>
            </a:extLst>
          </p:cNvPr>
          <p:cNvSpPr>
            <a:spLocks noGrp="1"/>
          </p:cNvSpPr>
          <p:nvPr/>
        </p:nvSpPr>
        <p:spPr>
          <a:xfrm>
            <a:off x="3836465" y="2533208"/>
            <a:ext cx="666750" cy="26670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BE60FD9C-C40A-4708-AF73-623AFA7EA452}"/>
              </a:ext>
            </a:extLst>
          </p:cNvPr>
          <p:cNvSpPr>
            <a:spLocks noGrp="1"/>
          </p:cNvSpPr>
          <p:nvPr/>
        </p:nvSpPr>
        <p:spPr>
          <a:xfrm>
            <a:off x="5760515" y="2533208"/>
            <a:ext cx="666750" cy="26670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056FBFAE-C897-4E13-B114-27673AD5A3AC}"/>
              </a:ext>
            </a:extLst>
          </p:cNvPr>
          <p:cNvSpPr>
            <a:spLocks noGrp="1"/>
          </p:cNvSpPr>
          <p:nvPr/>
        </p:nvSpPr>
        <p:spPr>
          <a:xfrm>
            <a:off x="7684565" y="2533208"/>
            <a:ext cx="666750" cy="266700"/>
          </a:xfrm>
          <a:prstGeom prst="rightArrow">
            <a:avLst/>
          </a:prstGeom>
          <a:solidFill>
            <a:srgbClr val="D7DDE4"/>
          </a:solidFill>
          <a:ln w="0">
            <a:solidFill>
              <a:srgbClr val="D7DDE4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ECAE8ED-CB84-448B-815E-D18A95C0291C}"/>
              </a:ext>
            </a:extLst>
          </p:cNvPr>
          <p:cNvSpPr>
            <a:spLocks noGrp="1"/>
          </p:cNvSpPr>
          <p:nvPr/>
        </p:nvSpPr>
        <p:spPr>
          <a:xfrm>
            <a:off x="647700" y="2314133"/>
            <a:ext cx="1276350" cy="5688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4288">
            <a:solidFill>
              <a:srgbClr val="D7DDE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38D2502-C272-473A-AA6A-83DE162EF472}"/>
              </a:ext>
            </a:extLst>
          </p:cNvPr>
          <p:cNvSpPr>
            <a:spLocks noGrp="1"/>
          </p:cNvSpPr>
          <p:nvPr/>
        </p:nvSpPr>
        <p:spPr>
          <a:xfrm>
            <a:off x="712265" y="2533208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事件抽取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2BD1265-C4B6-4633-B8B1-3DFA464C0B94}"/>
              </a:ext>
            </a:extLst>
          </p:cNvPr>
          <p:cNvSpPr>
            <a:spLocks noGrp="1"/>
          </p:cNvSpPr>
          <p:nvPr/>
        </p:nvSpPr>
        <p:spPr>
          <a:xfrm>
            <a:off x="2560115" y="2314133"/>
            <a:ext cx="1276350" cy="568800"/>
          </a:xfrm>
          <a:prstGeom prst="roundRect">
            <a:avLst>
              <a:gd name="adj" fmla="val 15789"/>
            </a:avLst>
          </a:prstGeom>
          <a:solidFill>
            <a:srgbClr val="E5F2F7"/>
          </a:solidFill>
          <a:ln w="14288">
            <a:solidFill>
              <a:srgbClr val="2E86A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086314-EDED-4DFC-AEA1-AD08A3F2C0DD}"/>
              </a:ext>
            </a:extLst>
          </p:cNvPr>
          <p:cNvSpPr>
            <a:spLocks noGrp="1"/>
          </p:cNvSpPr>
          <p:nvPr/>
        </p:nvSpPr>
        <p:spPr>
          <a:xfrm>
            <a:off x="2636315" y="2533208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混合召回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D811235-7E23-4BD1-A566-C579C7863340}"/>
              </a:ext>
            </a:extLst>
          </p:cNvPr>
          <p:cNvSpPr>
            <a:spLocks noGrp="1"/>
          </p:cNvSpPr>
          <p:nvPr/>
        </p:nvSpPr>
        <p:spPr>
          <a:xfrm>
            <a:off x="4484165" y="2314133"/>
            <a:ext cx="1276350" cy="568800"/>
          </a:xfrm>
          <a:prstGeom prst="roundRect">
            <a:avLst>
              <a:gd name="adj" fmla="val 15789"/>
            </a:avLst>
          </a:prstGeom>
          <a:solidFill>
            <a:srgbClr val="E5F2F7"/>
          </a:solidFill>
          <a:ln w="14288">
            <a:solidFill>
              <a:srgbClr val="2E86A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BEF8B6-9070-4408-A48D-135CEFD61DBA}"/>
              </a:ext>
            </a:extLst>
          </p:cNvPr>
          <p:cNvSpPr>
            <a:spLocks noGrp="1"/>
          </p:cNvSpPr>
          <p:nvPr/>
        </p:nvSpPr>
        <p:spPr>
          <a:xfrm>
            <a:off x="4560365" y="2533208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影响分析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029E249-64F0-4D68-916F-AFFFD3D3D871}"/>
              </a:ext>
            </a:extLst>
          </p:cNvPr>
          <p:cNvSpPr>
            <a:spLocks noGrp="1"/>
          </p:cNvSpPr>
          <p:nvPr/>
        </p:nvSpPr>
        <p:spPr>
          <a:xfrm>
            <a:off x="6408215" y="2314133"/>
            <a:ext cx="1276350" cy="568800"/>
          </a:xfrm>
          <a:prstGeom prst="roundRect">
            <a:avLst>
              <a:gd name="adj" fmla="val 15789"/>
            </a:avLst>
          </a:prstGeom>
          <a:solidFill>
            <a:srgbClr val="E5F2F7"/>
          </a:solidFill>
          <a:ln w="14288">
            <a:solidFill>
              <a:srgbClr val="2E86A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FCFDA0-1A64-4921-8E08-79151289E030}"/>
              </a:ext>
            </a:extLst>
          </p:cNvPr>
          <p:cNvSpPr>
            <a:spLocks noGrp="1"/>
          </p:cNvSpPr>
          <p:nvPr/>
        </p:nvSpPr>
        <p:spPr>
          <a:xfrm>
            <a:off x="6484415" y="2533208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规则计算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84945ED-5AB8-4F71-8FC8-73860B00FE1B}"/>
              </a:ext>
            </a:extLst>
          </p:cNvPr>
          <p:cNvSpPr>
            <a:spLocks noGrp="1"/>
          </p:cNvSpPr>
          <p:nvPr/>
        </p:nvSpPr>
        <p:spPr>
          <a:xfrm>
            <a:off x="8332265" y="2314133"/>
            <a:ext cx="1276350" cy="568800"/>
          </a:xfrm>
          <a:prstGeom prst="roundRect">
            <a:avLst>
              <a:gd name="adj" fmla="val 15789"/>
            </a:avLst>
          </a:prstGeom>
          <a:solidFill>
            <a:srgbClr val="E2F2EF"/>
          </a:solidFill>
          <a:ln w="14288">
            <a:solidFill>
              <a:srgbClr val="21897E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0BA8F2-4DB4-459D-82B0-254AB7EC96D0}"/>
              </a:ext>
            </a:extLst>
          </p:cNvPr>
          <p:cNvSpPr>
            <a:spLocks noGrp="1"/>
          </p:cNvSpPr>
          <p:nvPr/>
        </p:nvSpPr>
        <p:spPr>
          <a:xfrm>
            <a:off x="8408465" y="2533208"/>
            <a:ext cx="1123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17202A"/>
                </a:solidFill>
              </a:defRPr>
            </a:pPr>
            <a:r>
              <a:rPr sz="1425" b="1">
                <a:solidFill>
                  <a:srgbClr val="17202A"/>
                </a:solidFill>
              </a:rPr>
              <a:t>人工处置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49E5AB1-8229-4EDB-B28C-7EF4FB7FF2F2}"/>
              </a:ext>
            </a:extLst>
          </p:cNvPr>
          <p:cNvSpPr>
            <a:spLocks noGrp="1"/>
          </p:cNvSpPr>
          <p:nvPr/>
        </p:nvSpPr>
        <p:spPr>
          <a:xfrm>
            <a:off x="10046255" y="2411939"/>
            <a:ext cx="1181609" cy="323850"/>
          </a:xfrm>
          <a:prstGeom prst="roundRect">
            <a:avLst>
              <a:gd name="adj" fmla="val 35294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变化实现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56A08CE-D6A1-433A-81E5-1E97B2A9D429}"/>
              </a:ext>
            </a:extLst>
          </p:cNvPr>
          <p:cNvSpPr>
            <a:spLocks noGrp="1"/>
          </p:cNvSpPr>
          <p:nvPr/>
        </p:nvSpPr>
        <p:spPr>
          <a:xfrm>
            <a:off x="647700" y="3144242"/>
            <a:ext cx="4838700" cy="2858708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90E54E-5C95-4D61-8816-D44B1187F557}"/>
              </a:ext>
            </a:extLst>
          </p:cNvPr>
          <p:cNvSpPr>
            <a:spLocks noGrp="1"/>
          </p:cNvSpPr>
          <p:nvPr/>
        </p:nvSpPr>
        <p:spPr>
          <a:xfrm>
            <a:off x="9525000" y="6591300"/>
            <a:ext cx="198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825" b="0">
                <a:solidFill>
                  <a:srgbClr val="8A94A3"/>
                </a:solidFill>
              </a:defRPr>
            </a:pPr>
            <a:r>
              <a:rPr sz="825" b="0">
                <a:solidFill>
                  <a:srgbClr val="8A94A3"/>
                </a:solidFill>
              </a:rPr>
              <a:t>2026-08-13  ·  08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ED2A8398-6CB3-5445-B72E-479EAE15C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301" y="3207437"/>
            <a:ext cx="5710899" cy="2601909"/>
          </a:xfrm>
          <a:prstGeom prst="rect">
            <a:avLst/>
          </a:prstGeom>
        </p:spPr>
      </p:pic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49BD7BC7-3E51-545F-D9FA-0497FF5FD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387459"/>
              </p:ext>
            </p:extLst>
          </p:nvPr>
        </p:nvGraphicFramePr>
        <p:xfrm>
          <a:off x="800100" y="3555751"/>
          <a:ext cx="4457700" cy="2363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13439035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76134424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163283162"/>
                    </a:ext>
                  </a:extLst>
                </a:gridCol>
              </a:tblGrid>
              <a:tr h="303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当前结果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进展判断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53916"/>
                  </a:ext>
                </a:extLst>
              </a:tr>
              <a:tr h="445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事件筛选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96.3%（26/27）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已具备较好的事件筛选精度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775334"/>
                  </a:ext>
                </a:extLst>
              </a:tr>
              <a:tr h="311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事件筛选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86.7%（26/30）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仍有 13.3% 漏检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159866"/>
                  </a:ext>
                </a:extLst>
              </a:tr>
              <a:tr h="445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证券归属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100%（59/59）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当前样本通过，但不能外推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532126"/>
                  </a:ext>
                </a:extLst>
              </a:tr>
              <a:tr h="445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假设匹配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71.2%（42/59）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可辅助使用，仍需人工纠错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755255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方向判断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30.8%（8/26）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050"/>
                        <a:t>当前最主要的效果瓶颈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949016"/>
                  </a:ext>
                </a:extLst>
              </a:tr>
            </a:tbl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E4CEC786-A96D-5605-2F7F-D8936A692EA8}"/>
              </a:ext>
            </a:extLst>
          </p:cNvPr>
          <p:cNvSpPr>
            <a:spLocks noGrp="1"/>
          </p:cNvSpPr>
          <p:nvPr/>
        </p:nvSpPr>
        <p:spPr>
          <a:xfrm>
            <a:off x="647700" y="3236817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17202A"/>
                </a:solidFill>
              </a:defRPr>
            </a:pPr>
            <a:r>
              <a:rPr lang="zh-CN" altLang="en-US" sz="1500" b="1">
                <a:solidFill>
                  <a:srgbClr val="17202A"/>
                </a:solidFill>
              </a:rPr>
              <a:t>标注结果</a:t>
            </a:r>
            <a:endParaRPr sz="1500" b="1">
              <a:solidFill>
                <a:srgbClr val="17202A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3623969-6FD3-59A5-8685-532D500E4C3A}"/>
              </a:ext>
            </a:extLst>
          </p:cNvPr>
          <p:cNvSpPr>
            <a:spLocks noGrp="1"/>
          </p:cNvSpPr>
          <p:nvPr/>
        </p:nvSpPr>
        <p:spPr>
          <a:xfrm>
            <a:off x="685800" y="6197279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当前真实数据验证：三行业九公司、45 条逻辑、135 条假设；450/450 条可追溯证据。</a:t>
            </a:r>
          </a:p>
        </p:txBody>
      </p:sp>
    </p:spTree>
    <p:extLst>
      <p:ext uri="{BB962C8B-B14F-4D97-AF65-F5344CB8AC3E}">
        <p14:creationId xmlns:p14="http://schemas.microsoft.com/office/powerpoint/2010/main" val="1153470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4FA91E5-A4C9-49C6-9666-43AB1D5FDD4A}"/>
              </a:ext>
            </a:extLst>
          </p:cNvPr>
          <p:cNvSpPr>
            <a:spLocks noGrp="1"/>
          </p:cNvSpPr>
          <p:nvPr/>
        </p:nvSpPr>
        <p:spPr>
          <a:xfrm>
            <a:off x="706959" y="280159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B1F33"/>
                </a:solidFill>
              </a:defRPr>
            </a:pPr>
            <a:r>
              <a:rPr lang="zh-CN" altLang="en-US" sz="2700" b="1">
                <a:solidFill>
                  <a:srgbClr val="0B1F33"/>
                </a:solidFill>
              </a:rPr>
              <a:t>后续重点</a:t>
            </a:r>
            <a:r>
              <a:rPr lang="en-US" altLang="zh-CN" sz="2700" b="1">
                <a:solidFill>
                  <a:srgbClr val="0B1F33"/>
                </a:solidFill>
              </a:rPr>
              <a:t>——</a:t>
            </a:r>
            <a:r>
              <a:rPr lang="zh-CN" altLang="en-US" sz="2700" b="1">
                <a:solidFill>
                  <a:srgbClr val="0B1F33"/>
                </a:solidFill>
              </a:rPr>
              <a:t>动态知识库与</a:t>
            </a:r>
            <a:r>
              <a:rPr lang="en-US" altLang="zh-CN" sz="2700" b="1">
                <a:solidFill>
                  <a:srgbClr val="0B1F33"/>
                </a:solidFill>
              </a:rPr>
              <a:t>RAG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55DC26E-6D5E-4DFB-81A3-E09B2F1ABFE2}"/>
              </a:ext>
            </a:extLst>
          </p:cNvPr>
          <p:cNvSpPr>
            <a:spLocks noGrp="1"/>
          </p:cNvSpPr>
          <p:nvPr/>
        </p:nvSpPr>
        <p:spPr>
          <a:xfrm>
            <a:off x="706959" y="1363427"/>
            <a:ext cx="10820400" cy="0"/>
          </a:xfrm>
          <a:prstGeom prst="line">
            <a:avLst/>
          </a:prstGeom>
          <a:ln w="9525">
            <a:solidFill>
              <a:srgbClr val="D7E0E8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C78BF2-C457-4ADB-8A68-3FA0549EE18F}"/>
              </a:ext>
            </a:extLst>
          </p:cNvPr>
          <p:cNvSpPr>
            <a:spLocks noGrp="1"/>
          </p:cNvSpPr>
          <p:nvPr/>
        </p:nvSpPr>
        <p:spPr>
          <a:xfrm>
            <a:off x="796264" y="1457881"/>
            <a:ext cx="3143250" cy="1225205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42B352-D79D-4DBD-8754-5AC1AF2AB701}"/>
              </a:ext>
            </a:extLst>
          </p:cNvPr>
          <p:cNvSpPr>
            <a:spLocks noGrp="1"/>
          </p:cNvSpPr>
          <p:nvPr/>
        </p:nvSpPr>
        <p:spPr>
          <a:xfrm>
            <a:off x="1034389" y="1562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46F149-159B-458F-B7CE-481CB4E1C5C5}"/>
              </a:ext>
            </a:extLst>
          </p:cNvPr>
          <p:cNvSpPr>
            <a:spLocks noGrp="1"/>
          </p:cNvSpPr>
          <p:nvPr/>
        </p:nvSpPr>
        <p:spPr>
          <a:xfrm>
            <a:off x="1282039" y="1536743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600" b="1">
                <a:solidFill>
                  <a:srgbClr val="0B1F33"/>
                </a:solidFill>
              </a:rPr>
              <a:t>资料进入</a:t>
            </a:r>
            <a:endParaRPr sz="1800" b="1">
              <a:solidFill>
                <a:srgbClr val="0B1F3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BC3801-8F30-48C1-8C2A-AA502F9EF335}"/>
              </a:ext>
            </a:extLst>
          </p:cNvPr>
          <p:cNvSpPr>
            <a:spLocks noGrp="1"/>
          </p:cNvSpPr>
          <p:nvPr/>
        </p:nvSpPr>
        <p:spPr>
          <a:xfrm>
            <a:off x="1091539" y="1634125"/>
            <a:ext cx="25336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行业/公司资料采集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→ 解析、切片、去重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→ 事实/事件抽取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→ 引用定位与质量检查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5A3F95AB-0F77-473E-9392-C223DFA9A4B4}"/>
              </a:ext>
            </a:extLst>
          </p:cNvPr>
          <p:cNvSpPr>
            <a:spLocks noGrp="1"/>
          </p:cNvSpPr>
          <p:nvPr/>
        </p:nvSpPr>
        <p:spPr>
          <a:xfrm>
            <a:off x="3996664" y="2194650"/>
            <a:ext cx="381000" cy="0"/>
          </a:xfrm>
          <a:prstGeom prst="line">
            <a:avLst/>
          </a:prstGeom>
          <a:ln w="3810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E97B842-E00F-4078-AFA9-B3E0ADB14B9D}"/>
              </a:ext>
            </a:extLst>
          </p:cNvPr>
          <p:cNvSpPr>
            <a:spLocks noGrp="1"/>
          </p:cNvSpPr>
          <p:nvPr/>
        </p:nvSpPr>
        <p:spPr>
          <a:xfrm>
            <a:off x="4434814" y="1457881"/>
            <a:ext cx="3143250" cy="1225206"/>
          </a:xfrm>
          <a:prstGeom prst="roundRect">
            <a:avLst>
              <a:gd name="adj" fmla="val 4286"/>
            </a:avLst>
          </a:prstGeom>
          <a:solidFill>
            <a:srgbClr val="E8FAF9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BDFD89-F368-4290-827D-E80BCA11DE62}"/>
              </a:ext>
            </a:extLst>
          </p:cNvPr>
          <p:cNvSpPr>
            <a:spLocks noGrp="1"/>
          </p:cNvSpPr>
          <p:nvPr/>
        </p:nvSpPr>
        <p:spPr>
          <a:xfrm>
            <a:off x="4672939" y="1562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47670E-A447-4161-A4C1-D6370F2296E7}"/>
              </a:ext>
            </a:extLst>
          </p:cNvPr>
          <p:cNvSpPr>
            <a:spLocks noGrp="1"/>
          </p:cNvSpPr>
          <p:nvPr/>
        </p:nvSpPr>
        <p:spPr>
          <a:xfrm>
            <a:off x="4968214" y="1534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600" b="1">
                <a:solidFill>
                  <a:srgbClr val="0B1F33"/>
                </a:solidFill>
              </a:rPr>
              <a:t>分层检索</a:t>
            </a:r>
            <a:endParaRPr sz="1800" b="1">
              <a:solidFill>
                <a:srgbClr val="0B1F33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07BBC7-8A29-492C-9B62-03BEC4C54306}"/>
              </a:ext>
            </a:extLst>
          </p:cNvPr>
          <p:cNvSpPr>
            <a:spLocks noGrp="1"/>
          </p:cNvSpPr>
          <p:nvPr/>
        </p:nvSpPr>
        <p:spPr>
          <a:xfrm>
            <a:off x="4720564" y="1559139"/>
            <a:ext cx="25336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① 当前逻辑与已确认假设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② 当前公司的历史资料/事件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③ 所属行业的共性知识与变量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1428E314-24E0-4E52-AC42-51D86DC87B0E}"/>
              </a:ext>
            </a:extLst>
          </p:cNvPr>
          <p:cNvSpPr>
            <a:spLocks noGrp="1"/>
          </p:cNvSpPr>
          <p:nvPr/>
        </p:nvSpPr>
        <p:spPr>
          <a:xfrm>
            <a:off x="7647914" y="2185850"/>
            <a:ext cx="381000" cy="0"/>
          </a:xfrm>
          <a:prstGeom prst="line">
            <a:avLst/>
          </a:prstGeom>
          <a:ln w="38100">
            <a:solidFill>
              <a:srgbClr val="17BEBB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F98F778-11A6-4C6C-B269-FD4ED192FE94}"/>
              </a:ext>
            </a:extLst>
          </p:cNvPr>
          <p:cNvSpPr>
            <a:spLocks noGrp="1"/>
          </p:cNvSpPr>
          <p:nvPr/>
        </p:nvSpPr>
        <p:spPr>
          <a:xfrm>
            <a:off x="8073364" y="1457881"/>
            <a:ext cx="3143250" cy="1225202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1DE15E-56BE-4634-B167-3D47B1DD579F}"/>
              </a:ext>
            </a:extLst>
          </p:cNvPr>
          <p:cNvSpPr>
            <a:spLocks noGrp="1"/>
          </p:cNvSpPr>
          <p:nvPr/>
        </p:nvSpPr>
        <p:spPr>
          <a:xfrm>
            <a:off x="8311489" y="1562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BEBB"/>
                </a:solidFill>
              </a:defRPr>
            </a:pPr>
            <a:r>
              <a:rPr sz="1125" b="1">
                <a:solidFill>
                  <a:srgbClr val="17BEBB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97332D-9AAA-40B6-947F-8D2DF46830D9}"/>
              </a:ext>
            </a:extLst>
          </p:cNvPr>
          <p:cNvSpPr>
            <a:spLocks noGrp="1"/>
          </p:cNvSpPr>
          <p:nvPr/>
        </p:nvSpPr>
        <p:spPr>
          <a:xfrm>
            <a:off x="8654389" y="1524726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</a:defRPr>
            </a:pPr>
            <a:r>
              <a:rPr sz="1600" b="1">
                <a:solidFill>
                  <a:srgbClr val="0B1F33"/>
                </a:solidFill>
              </a:rPr>
              <a:t>Agent 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1484DD-6210-4A12-AA62-CC598BA7615C}"/>
              </a:ext>
            </a:extLst>
          </p:cNvPr>
          <p:cNvSpPr>
            <a:spLocks noGrp="1"/>
          </p:cNvSpPr>
          <p:nvPr/>
        </p:nvSpPr>
        <p:spPr>
          <a:xfrm>
            <a:off x="8725827" y="1616212"/>
            <a:ext cx="25336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影响的既有假设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支持/冲突/待判断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强度与置信度</a:t>
            </a:r>
          </a:p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可打开的原文引用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EBC23E-FDB9-42A6-83CB-824D373E0247}"/>
              </a:ext>
            </a:extLst>
          </p:cNvPr>
          <p:cNvSpPr>
            <a:spLocks noGrp="1"/>
          </p:cNvSpPr>
          <p:nvPr/>
        </p:nvSpPr>
        <p:spPr>
          <a:xfrm>
            <a:off x="683662" y="6543675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AI Investment Copilot · 中期答辩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BDC4787-4DD2-4478-8837-54396C41C8E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09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71313F-6E11-8639-2121-92A8AD514820}"/>
              </a:ext>
            </a:extLst>
          </p:cNvPr>
          <p:cNvSpPr txBox="1"/>
          <p:nvPr/>
        </p:nvSpPr>
        <p:spPr>
          <a:xfrm>
            <a:off x="706959" y="768060"/>
            <a:ext cx="108204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425" b="0">
                <a:solidFill>
                  <a:srgbClr val="6D7785"/>
                </a:solidFill>
              </a:defRPr>
            </a:pPr>
            <a:r>
              <a:rPr lang="en-US" altLang="zh-CN" sz="1425" b="0">
                <a:solidFill>
                  <a:srgbClr val="6D7785"/>
                </a:solidFill>
              </a:rPr>
              <a:t>RAG </a:t>
            </a:r>
            <a:r>
              <a:rPr lang="zh-CN" altLang="en-US" sz="1425" b="0">
                <a:solidFill>
                  <a:srgbClr val="6D7785"/>
                </a:solidFill>
              </a:rPr>
              <a:t>不是“大文档搜索”，而是按研究范围构建可引用的决策上下文，目标是每一条 </a:t>
            </a:r>
            <a:r>
              <a:rPr lang="en-US" altLang="zh-CN" sz="1425" b="0">
                <a:solidFill>
                  <a:srgbClr val="6D7785"/>
                </a:solidFill>
              </a:rPr>
              <a:t>AI </a:t>
            </a:r>
            <a:r>
              <a:rPr lang="zh-CN" altLang="en-US" sz="1425" b="0">
                <a:solidFill>
                  <a:srgbClr val="6D7785"/>
                </a:solidFill>
              </a:rPr>
              <a:t>候选都能回到“检索范围 </a:t>
            </a:r>
            <a:r>
              <a:rPr lang="en-US" altLang="zh-CN" sz="1425" b="0">
                <a:solidFill>
                  <a:srgbClr val="6D7785"/>
                </a:solidFill>
              </a:rPr>
              <a:t>+ </a:t>
            </a:r>
            <a:r>
              <a:rPr lang="zh-CN" altLang="en-US" sz="1425" b="0">
                <a:solidFill>
                  <a:srgbClr val="6D7785"/>
                </a:solidFill>
              </a:rPr>
              <a:t>原文片段 </a:t>
            </a:r>
            <a:r>
              <a:rPr lang="en-US" altLang="zh-CN" sz="1425" b="0">
                <a:solidFill>
                  <a:srgbClr val="6D7785"/>
                </a:solidFill>
              </a:rPr>
              <a:t>+ </a:t>
            </a:r>
            <a:r>
              <a:rPr lang="zh-CN" altLang="en-US" sz="1425" b="0">
                <a:solidFill>
                  <a:srgbClr val="6D7785"/>
                </a:solidFill>
              </a:rPr>
              <a:t>模型</a:t>
            </a:r>
            <a:r>
              <a:rPr lang="en-US" altLang="zh-CN" sz="1425" b="0">
                <a:solidFill>
                  <a:srgbClr val="6D7785"/>
                </a:solidFill>
              </a:rPr>
              <a:t>/</a:t>
            </a:r>
            <a:r>
              <a:rPr lang="zh-CN" altLang="en-US" sz="1425" b="0">
                <a:solidFill>
                  <a:srgbClr val="6D7785"/>
                </a:solidFill>
              </a:rPr>
              <a:t>提示词版本”，再等待人工确认</a:t>
            </a:r>
          </a:p>
        </p:txBody>
      </p:sp>
      <p:pic>
        <p:nvPicPr>
          <p:cNvPr id="28" name="图片 27" descr="RAG增强研究流程与演进路线">
            <a:extLst>
              <a:ext uri="{FF2B5EF4-FFF2-40B4-BE49-F238E27FC236}">
                <a16:creationId xmlns:a16="http://schemas.microsoft.com/office/drawing/2014/main" id="{736D72D5-BD95-AD57-CA66-9562EA7D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03" b="71872"/>
          <a:stretch>
            <a:fillRect/>
          </a:stretch>
        </p:blipFill>
        <p:spPr>
          <a:xfrm>
            <a:off x="337082" y="2736470"/>
            <a:ext cx="11560154" cy="1115807"/>
          </a:xfrm>
          <a:prstGeom prst="rect">
            <a:avLst/>
          </a:prstGeom>
        </p:spPr>
      </p:pic>
      <p:pic>
        <p:nvPicPr>
          <p:cNvPr id="29" name="图片 28" descr="RAG增强研究流程与演进路线">
            <a:extLst>
              <a:ext uri="{FF2B5EF4-FFF2-40B4-BE49-F238E27FC236}">
                <a16:creationId xmlns:a16="http://schemas.microsoft.com/office/drawing/2014/main" id="{AD864CE5-B47C-0AEA-8573-ACB068E0DA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23" t="37234" r="1354" b="42038"/>
          <a:stretch>
            <a:fillRect/>
          </a:stretch>
        </p:blipFill>
        <p:spPr>
          <a:xfrm>
            <a:off x="1174259" y="4133335"/>
            <a:ext cx="8090141" cy="1171972"/>
          </a:xfrm>
          <a:prstGeom prst="rect">
            <a:avLst/>
          </a:prstGeom>
        </p:spPr>
      </p:pic>
      <p:pic>
        <p:nvPicPr>
          <p:cNvPr id="30" name="图片 29" descr="RAG增强研究流程与演进路线">
            <a:extLst>
              <a:ext uri="{FF2B5EF4-FFF2-40B4-BE49-F238E27FC236}">
                <a16:creationId xmlns:a16="http://schemas.microsoft.com/office/drawing/2014/main" id="{82BCC422-E51E-4302-F3BE-A0CDFD5A28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5" t="64552" b="16521"/>
          <a:stretch>
            <a:fillRect/>
          </a:stretch>
        </p:blipFill>
        <p:spPr>
          <a:xfrm>
            <a:off x="876300" y="5401004"/>
            <a:ext cx="10116758" cy="1095848"/>
          </a:xfrm>
          <a:prstGeom prst="rect">
            <a:avLst/>
          </a:prstGeom>
        </p:spPr>
      </p:pic>
      <p:pic>
        <p:nvPicPr>
          <p:cNvPr id="31" name="图片 30" descr="deepseek标志_图片_png - 图标 - 爱给网">
            <a:extLst>
              <a:ext uri="{FF2B5EF4-FFF2-40B4-BE49-F238E27FC236}">
                <a16:creationId xmlns:a16="http://schemas.microsoft.com/office/drawing/2014/main" id="{344546A8-F7E8-B3A9-5953-81BAC3ED8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329" y="4165683"/>
            <a:ext cx="1027729" cy="973524"/>
          </a:xfrm>
          <a:prstGeom prst="rect">
            <a:avLst/>
          </a:prstGeom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32A8160-2865-EC1A-AE4B-C388BE0C8DB3}"/>
              </a:ext>
            </a:extLst>
          </p:cNvPr>
          <p:cNvCxnSpPr>
            <a:cxnSpLocks/>
          </p:cNvCxnSpPr>
          <p:nvPr/>
        </p:nvCxnSpPr>
        <p:spPr>
          <a:xfrm>
            <a:off x="3314700" y="3819406"/>
            <a:ext cx="6692900" cy="412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A25B252-571B-4052-0019-EE8484AF00C9}"/>
              </a:ext>
            </a:extLst>
          </p:cNvPr>
          <p:cNvCxnSpPr>
            <a:cxnSpLocks/>
          </p:cNvCxnSpPr>
          <p:nvPr/>
        </p:nvCxnSpPr>
        <p:spPr>
          <a:xfrm>
            <a:off x="7397750" y="3819406"/>
            <a:ext cx="2566036" cy="362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EC1F7109-57A0-1D17-6E6F-DEAE2342B57B}"/>
              </a:ext>
            </a:extLst>
          </p:cNvPr>
          <p:cNvCxnSpPr>
            <a:cxnSpLocks/>
          </p:cNvCxnSpPr>
          <p:nvPr/>
        </p:nvCxnSpPr>
        <p:spPr>
          <a:xfrm flipH="1">
            <a:off x="2228214" y="3810953"/>
            <a:ext cx="3010096" cy="371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ABA526E-F970-8E5B-746E-79DD89F13E35}"/>
              </a:ext>
            </a:extLst>
          </p:cNvPr>
          <p:cNvCxnSpPr>
            <a:cxnSpLocks/>
          </p:cNvCxnSpPr>
          <p:nvPr/>
        </p:nvCxnSpPr>
        <p:spPr>
          <a:xfrm flipH="1">
            <a:off x="6661150" y="3821244"/>
            <a:ext cx="586714" cy="360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DFCA743-2B32-EC9B-BC5F-C51C1608B933}"/>
              </a:ext>
            </a:extLst>
          </p:cNvPr>
          <p:cNvSpPr>
            <a:spLocks noGrp="1"/>
          </p:cNvSpPr>
          <p:nvPr/>
        </p:nvSpPr>
        <p:spPr>
          <a:xfrm>
            <a:off x="876300" y="5435295"/>
            <a:ext cx="10254589" cy="1082512"/>
          </a:xfrm>
          <a:prstGeom prst="roundRect">
            <a:avLst>
              <a:gd name="adj" fmla="val 11429"/>
            </a:avLst>
          </a:prstGeom>
          <a:noFill/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A1173494-4B37-DAE6-8E21-4BBEF4962F6A}"/>
              </a:ext>
            </a:extLst>
          </p:cNvPr>
          <p:cNvSpPr/>
          <p:nvPr/>
        </p:nvSpPr>
        <p:spPr>
          <a:xfrm>
            <a:off x="4174464" y="5137025"/>
            <a:ext cx="615950" cy="303470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6E846A-641A-09C0-D35C-1C4397376011}"/>
              </a:ext>
            </a:extLst>
          </p:cNvPr>
          <p:cNvCxnSpPr>
            <a:cxnSpLocks/>
          </p:cNvCxnSpPr>
          <p:nvPr/>
        </p:nvCxnSpPr>
        <p:spPr>
          <a:xfrm flipH="1">
            <a:off x="4857750" y="4800324"/>
            <a:ext cx="5371882" cy="694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>
            <a:extLst>
              <a:ext uri="{FF2B5EF4-FFF2-40B4-BE49-F238E27FC236}">
                <a16:creationId xmlns:a16="http://schemas.microsoft.com/office/drawing/2014/main" id="{BBB25F79-6381-F659-4CC5-1D26E1D07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64" y="4080317"/>
            <a:ext cx="1425489" cy="320736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34AFAFA5-6E0A-04A5-37F0-454FF18D7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59" y="5385855"/>
            <a:ext cx="1446569" cy="292976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B24834E2-DA02-4410-F5FE-8513CA7F9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7453" y="4239976"/>
            <a:ext cx="2270125" cy="2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625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603</Words>
  <Application>Microsoft Office PowerPoint</Application>
  <DocSecurity>0</DocSecurity>
  <PresentationFormat>宽屏</PresentationFormat>
  <Paragraphs>80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 Liao</cp:lastModifiedBy>
  <cp:revision>5</cp:revision>
  <dcterms:created xsi:type="dcterms:W3CDTF">2026-08-13T05:22:29Z</dcterms:created>
  <dcterms:modified xsi:type="dcterms:W3CDTF">2026-08-13T11:04:08Z</dcterms:modified>
</cp:coreProperties>
</file>